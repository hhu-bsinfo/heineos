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B136CE-8738-493F-AF07-C2806DA78E32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7640" cy="3492000"/>
          </a:xfrm>
          <a:custGeom>
            <a:avLst/>
            <a:gdLst>
              <a:gd name="textAreaLeft" fmla="*/ 0 w 3167640"/>
              <a:gd name="textAreaRight" fmla="*/ 3168000 w 3167640"/>
              <a:gd name="textAreaTop" fmla="*/ 0 h 3492000"/>
              <a:gd name="textAreaBottom" fmla="*/ 3492360 h 349200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400640" cy="106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9240" cy="29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5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6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46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46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46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47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7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8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8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8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88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9" name="Gruppieren 2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9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3" name="Freihandform: Form 25"/>
          <p:cNvSpPr/>
          <p:nvPr/>
        </p:nvSpPr>
        <p:spPr>
          <a:xfrm>
            <a:off x="0" y="1422360"/>
            <a:ext cx="3167640" cy="3492000"/>
          </a:xfrm>
          <a:custGeom>
            <a:avLst/>
            <a:gdLst>
              <a:gd name="textAreaLeft" fmla="*/ 0 w 3167640"/>
              <a:gd name="textAreaRight" fmla="*/ 3168000 w 3167640"/>
              <a:gd name="textAreaTop" fmla="*/ 0 h 3492000"/>
              <a:gd name="textAreaBottom" fmla="*/ 3492360 h 349200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1"/>
          <p:cNvSpPr>
            <a:spLocks noGrp="1"/>
          </p:cNvSpPr>
          <p:nvPr>
            <p:ph type="dt" idx="22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899440"/>
            <a:ext cx="6399360" cy="54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96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497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Freihandform: Form 14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Freihandform: Form 15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ihandform: Form 16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6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6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96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7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7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8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8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9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95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96" name="Gruppieren 25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9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0" name="PlaceHolder 1"/>
          <p:cNvSpPr>
            <a:spLocks noGrp="1"/>
          </p:cNvSpPr>
          <p:nvPr>
            <p:ph type="dt" idx="43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6399360" cy="11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002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003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4" name="Freihandform: Form 14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5" name="Freihandform: Form 15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Freihandform: Form 16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7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7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07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7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7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8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9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9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03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04" name="Gruppieren 28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0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8" name="PlaceHolder 1"/>
          <p:cNvSpPr>
            <a:spLocks noGrp="1"/>
          </p:cNvSpPr>
          <p:nvPr>
            <p:ph type="dt" idx="46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4936320" cy="11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10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11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2" name="Freihandform: Form 15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Freihandform: Form 18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Freihandform: Form 19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5" name="PlaceHolder 3"/>
          <p:cNvSpPr>
            <a:spLocks noGrp="1"/>
          </p:cNvSpPr>
          <p:nvPr>
            <p:ph type="body" hasCustomPrompt="1"/>
          </p:nvPr>
        </p:nvSpPr>
        <p:spPr>
          <a:xfrm>
            <a:off x="5621040" y="1088280"/>
            <a:ext cx="3522600" cy="3826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1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20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12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12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12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13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13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4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47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48" name="Gruppieren 28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4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2" name="PlaceHolder 1"/>
          <p:cNvSpPr>
            <a:spLocks noGrp="1"/>
          </p:cNvSpPr>
          <p:nvPr>
            <p:ph type="dt" idx="47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250360"/>
            <a:ext cx="2829960" cy="118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54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55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6" name="Freihandform: Form 17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7" name="Freihandform: Form 18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" name="Freihandform: Form 19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9" name="PlaceHolder 3"/>
          <p:cNvSpPr>
            <a:spLocks noGrp="1"/>
          </p:cNvSpPr>
          <p:nvPr>
            <p:ph type="body" hasCustomPrompt="1"/>
          </p:nvPr>
        </p:nvSpPr>
        <p:spPr>
          <a:xfrm>
            <a:off x="3546000" y="1088280"/>
            <a:ext cx="5597640" cy="3826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6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6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16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16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16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17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18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8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92" name="Gruppieren 30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9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6" name="PlaceHolder 1"/>
          <p:cNvSpPr>
            <a:spLocks noGrp="1"/>
          </p:cNvSpPr>
          <p:nvPr>
            <p:ph type="dt" idx="48"/>
          </p:nvPr>
        </p:nvSpPr>
        <p:spPr>
          <a:xfrm>
            <a:off x="656496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3818520"/>
            <a:ext cx="5773320" cy="56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98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99" name="Freihandform: Form 17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0" name="Freihandform: Form 19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Freihandform: Form 20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Freihandform: Form 23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3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6678000" cy="23958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4" name="PlaceHolder 4"/>
          <p:cNvSpPr>
            <a:spLocks noGrp="1"/>
          </p:cNvSpPr>
          <p:nvPr>
            <p:ph type="body" hasCustomPrompt="1"/>
          </p:nvPr>
        </p:nvSpPr>
        <p:spPr>
          <a:xfrm>
            <a:off x="6741000" y="1422360"/>
            <a:ext cx="2402640" cy="23958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2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3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A22D5C3A-29D9-473D-A102-A467592D79A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720" cy="331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ftr" idx="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9293FC14-368E-4C9F-A802-C18A01BBCAF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1280" cy="3423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3080" cy="3423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5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8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4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38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0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42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4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48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2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ftr" idx="6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7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3860ED3D-24C9-4839-A8DB-D0AB23FBC24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660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23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23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6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6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6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6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6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7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7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8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8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1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27E08848-025A-4323-A587-D38A493B4DA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810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9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0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0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0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0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1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1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2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2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3B3EAD51-56BA-4E9B-8E7C-D16E9D8A6F7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531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36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39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40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41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42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3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8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1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52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4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5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56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8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61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62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66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452412FE-22EB-4399-BFB5-329DE07EB57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 hasCustomPrompt="1"/>
          </p:nvPr>
        </p:nvSpPr>
        <p:spPr>
          <a:xfrm>
            <a:off x="3311640" y="1422360"/>
            <a:ext cx="531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74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7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7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7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80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90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2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94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6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00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4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ftr" idx="1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ED271FAF-7452-4071-8B18-31A71CB4212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30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1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1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31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1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1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2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33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3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43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ftr" idx="16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7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16F0351F-5940-4F98-B546-8B2C0AC395E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3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5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5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35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5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5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6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37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7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7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8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82" name="Gruppieren 52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8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8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88" name="Freihandform: Form 3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Freihandform: Form 3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Freihandform: Form 3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Freihandform: Form 3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Freihandform: Form 3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Freihandform: Form 4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4" name="Freihandform: Form 17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Freihandform: Form 18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Freihandform: Form 19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98" name="Freihandform: Form 3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9" name="Freihandform: Form 3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0" name="Freihandform: Form 21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02" name="Freihandform: Form 3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3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4" name="Freihandform: Form 2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Freihandform: Form 2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Freihandform: Form 2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08" name="Freihandform: Form 2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9" name="Freihandform: Form 2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0" name="Freihandform: Form 2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1" name="Freihandform: Form 3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12" name="Grafik 11"/>
          <p:cNvSpPr/>
          <p:nvPr/>
        </p:nvSpPr>
        <p:spPr>
          <a:xfrm>
            <a:off x="0" y="0"/>
            <a:ext cx="3731760" cy="4914720"/>
          </a:xfrm>
          <a:custGeom>
            <a:avLst/>
            <a:gdLst>
              <a:gd name="textAreaLeft" fmla="*/ 0 w 3731760"/>
              <a:gd name="textAreaRight" fmla="*/ 3732120 w 3731760"/>
              <a:gd name="textAreaTop" fmla="*/ 0 h 4914720"/>
              <a:gd name="textAreaBottom" fmla="*/ 4915080 h 491472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ftr" idx="18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sldNum" idx="19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31CDC7CE-D560-457A-B5DF-A06133B4267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title" hasCustomPrompt="1"/>
          </p:nvPr>
        </p:nvSpPr>
        <p:spPr>
          <a:xfrm>
            <a:off x="4464000" y="330840"/>
            <a:ext cx="288900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416" name="Gerader Verbinder 45"/>
          <p:cNvCxnSpPr/>
          <p:nvPr/>
        </p:nvCxnSpPr>
        <p:spPr>
          <a:xfrm>
            <a:off x="4464000" y="974520"/>
            <a:ext cx="288972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417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860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8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2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2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42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42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42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43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4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4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4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4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5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ftr" idx="20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21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A6F3F0B9-5976-42B6-8C89-75C56EA5B8E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4518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408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0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05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0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0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08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9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14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18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9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0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22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4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528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32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79B299B1-1C3F-44FA-A6B0-08A006BB48C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224172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5"/>
          <p:cNvSpPr>
            <a:spLocks noGrp="1"/>
          </p:cNvSpPr>
          <p:nvPr>
            <p:ph type="body" hasCustomPrompt="1"/>
          </p:nvPr>
        </p:nvSpPr>
        <p:spPr>
          <a:xfrm>
            <a:off x="6921000" y="1422360"/>
            <a:ext cx="2222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408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4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4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4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4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4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5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6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56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7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72" name="Gruppieren 53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7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6" name="PlaceHolder 1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6DD0567C-92A7-4CC8-BF48-8878DD1F31B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579" name="Gerader Verbinder 46"/>
          <p:cNvCxnSpPr/>
          <p:nvPr/>
        </p:nvCxnSpPr>
        <p:spPr>
          <a:xfrm>
            <a:off x="4625640" y="974520"/>
            <a:ext cx="2728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580" name="PlaceHolder 4"/>
          <p:cNvSpPr>
            <a:spLocks noGrp="1"/>
          </p:cNvSpPr>
          <p:nvPr>
            <p:ph type="body" hasCustomPrompt="1"/>
          </p:nvPr>
        </p:nvSpPr>
        <p:spPr>
          <a:xfrm>
            <a:off x="-6120" y="0"/>
            <a:ext cx="4276800" cy="4914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440" cy="34873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58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8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85" name="Freihandform: Form 68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ihandform: Form 69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ihandform: Form 70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Freihandform: Form 71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ihandform: Form 72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Freihandform: Form 73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1" name="Freihandform: Form 45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Freihandform: Form 4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Freihandform: Form 4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95" name="Freihandform: Form 66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6" name="Freihandform: Form 67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7" name="Freihandform: Form 50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99" name="Freihandform: Form 6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Freihandform: Form 6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1" name="Freihandform: Form 52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Freihandform: Form 5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Freihandform: Form 5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05" name="Freihandform: Form 6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ihandform: Form 6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6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6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1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1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61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1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1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2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3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3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40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41" name="Gruppieren 54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4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5" name="PlaceHolder 1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PlaceHolder 2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BD188B27-2462-452E-B053-91BA1B6808E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648" name="Gerader Verbinder 47"/>
          <p:cNvCxnSpPr/>
          <p:nvPr/>
        </p:nvCxnSpPr>
        <p:spPr>
          <a:xfrm>
            <a:off x="4625640" y="974520"/>
            <a:ext cx="2728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649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275720" cy="2430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2493720"/>
            <a:ext cx="4275720" cy="2420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960" cy="34873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9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65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5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55" name="Freihandform: Form 69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6" name="Freihandform: Form 70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71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72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73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0" name="Freihandform: Form 74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1" name="Freihandform: Form 45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2" name="Freihandform: Form 46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Freihandform: Form 49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65" name="Freihandform: Form 67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6" name="Freihandform: Form 68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7" name="Freihandform: Form 51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69" name="Freihandform: Form 65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0" name="Freihandform: Form 66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1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Freihandform: Form 58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Freihandform: Form 59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75" name="Freihandform: Form 61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Freihandform: Form 62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ihandform: Form 63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64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8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8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68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8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8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9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0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0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1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2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C0BFC15E-52D0-48E4-A286-0336030E4ED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454428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5"/>
          <p:cNvSpPr>
            <a:spLocks noGrp="1"/>
          </p:cNvSpPr>
          <p:nvPr>
            <p:ph type="body" hasCustomPrompt="1"/>
          </p:nvPr>
        </p:nvSpPr>
        <p:spPr>
          <a:xfrm>
            <a:off x="4599360" y="1422360"/>
            <a:ext cx="454428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1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2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2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2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72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73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3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4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4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4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0D0BE182-7A32-4486-9311-7C5518ECA54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2978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5"/>
          <p:cNvSpPr>
            <a:spLocks noGrp="1"/>
          </p:cNvSpPr>
          <p:nvPr>
            <p:ph type="body" hasCustomPrompt="1"/>
          </p:nvPr>
        </p:nvSpPr>
        <p:spPr>
          <a:xfrm>
            <a:off x="3032640" y="1422360"/>
            <a:ext cx="307872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6"/>
          <p:cNvSpPr>
            <a:spLocks noGrp="1"/>
          </p:cNvSpPr>
          <p:nvPr>
            <p:ph type="body" hasCustomPrompt="1"/>
          </p:nvPr>
        </p:nvSpPr>
        <p:spPr>
          <a:xfrm>
            <a:off x="6165000" y="1422360"/>
            <a:ext cx="2978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5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5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60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6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6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76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77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7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8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7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2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EED1C963-3D90-4525-BB56-B38FB91F41B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9143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3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94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5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97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9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9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00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1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6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10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1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2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14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5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6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20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1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24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2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36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623FA096-C5A2-4841-820C-9D27194B296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3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3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3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3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3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4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5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5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6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2" name="PlaceHolder 2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3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3BD9822F-6710-46F0-92DA-A56B0B5EEE9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6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6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6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7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7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8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8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9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95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6" name="PlaceHolder 1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PlaceHolder 2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43DF088B-FAC1-41A3-8DCC-2D7771F7148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9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02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90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0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05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6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7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8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9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1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2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3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15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7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19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1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25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29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30" name="Gruppieren 49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3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4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360" cy="91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35" name="Grafik 11"/>
          <p:cNvSpPr/>
          <p:nvPr/>
        </p:nvSpPr>
        <p:spPr>
          <a:xfrm>
            <a:off x="0" y="0"/>
            <a:ext cx="3731760" cy="4914720"/>
          </a:xfrm>
          <a:custGeom>
            <a:avLst/>
            <a:gdLst>
              <a:gd name="textAreaLeft" fmla="*/ 0 w 3731760"/>
              <a:gd name="textAreaRight" fmla="*/ 3732120 w 3731760"/>
              <a:gd name="textAreaTop" fmla="*/ 0 h 4914720"/>
              <a:gd name="textAreaBottom" fmla="*/ 4915080 h 491472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ED221B05-9005-4CA1-AECB-7DCF61C8F4A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3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3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40" name="Freihandform: Form 6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Freihandform: Form 6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Freihandform: Form 6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Freihandform: Form 6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Freihandform: Form 6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Freihandform: Form 7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6" name="Freihandform: Form 43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7" name="Freihandform: Form 44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Freihandform: Form 45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50" name="Freihandform: Form 6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Freihandform: Form 6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2" name="Freihandform: Form 47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54" name="Freihandform: Form 6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6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6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7" name="Freihandform: Form 5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8" name="Freihandform: Form 5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60" name="Freihandform: Form 5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Freihandform: Form 5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2" name="Freihandform: Form 5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3" name="Freihandform: Form 6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0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1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01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1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1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2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2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3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38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39" name="Gruppieren 49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4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3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360" cy="91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2"/>
          <p:cNvSpPr>
            <a:spLocks noGrp="1"/>
          </p:cNvSpPr>
          <p:nvPr>
            <p:ph type="ftr" idx="4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40CE6A39-13F8-4D72-99CB-21DE4AA36DC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4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4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48" name="Freihandform: Form 6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Freihandform: Form 6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Freihandform: Form 6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Freihandform: Form 6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Freihandform: Form 6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3" name="Freihandform: Form 7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4" name="Freihandform: Form 43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" name="Freihandform: Form 44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6" name="Freihandform: Form 45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58" name="Freihandform: Form 6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9" name="Freihandform: Form 6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0" name="Freihandform: Form 47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62" name="Freihandform: Form 6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3" name="Freihandform: Form 6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4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Freihandform: Form 5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6" name="Freihandform: Form 5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68" name="Freihandform: Form 5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Freihandform: Form 5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Freihandform: Form 5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6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06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9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10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11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12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3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4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5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6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7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8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9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0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1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22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4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5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26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8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9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0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1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232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3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4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6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1"/>
          <p:cNvSpPr>
            <a:spLocks noGrp="1"/>
          </p:cNvSpPr>
          <p:nvPr>
            <p:ph type="title" hasCustomPrompt="1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8" name="PlaceHolder 2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AD20343A-D67D-4DCB-9A4E-EE6620838AD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PlaceHolder 3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PlaceHolder 4"/>
          <p:cNvSpPr>
            <a:spLocks noGrp="1"/>
          </p:cNvSpPr>
          <p:nvPr>
            <p:ph type="body" hasCustomPrompt="1"/>
          </p:nvPr>
        </p:nvSpPr>
        <p:spPr>
          <a:xfrm>
            <a:off x="5488200" y="1422360"/>
            <a:ext cx="36554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1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604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4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4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4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4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5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6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26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73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2"/>
          <p:cNvSpPr>
            <a:spLocks noGrp="1"/>
          </p:cNvSpPr>
          <p:nvPr>
            <p:ph type="ftr" idx="5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PlaceHolder 3"/>
          <p:cNvSpPr>
            <a:spLocks noGrp="1"/>
          </p:cNvSpPr>
          <p:nvPr>
            <p:ph type="sldNum" idx="5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9532A527-A0E4-4733-BFC1-0734A4D1BF0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8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7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2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8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8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85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0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1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3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95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6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7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99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0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1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3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305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8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9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2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3"/>
          <p:cNvSpPr>
            <a:spLocks noGrp="1"/>
          </p:cNvSpPr>
          <p:nvPr>
            <p:ph type="sldNum" idx="5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8E73D4B6-53AB-4359-BAAE-34ED4D3AE57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72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5166000" cy="106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35244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HeineOS</a:t>
            </a:r>
            <a:br>
              <a:rPr sz="3600"/>
            </a:br>
            <a:br>
              <a:rPr sz="3600"/>
            </a:br>
            <a:r>
              <a:rPr lang="de-DE" sz="2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Assignment Material: Coroutines</a:t>
            </a:r>
            <a:endParaRPr lang="de-DE" sz="22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2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400640" cy="6044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function prepares the stack for starting a coroutine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Every register is manually </a:t>
            </a:r>
            <a:r>
              <a:rPr lang="en-GB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pushed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onto the stack</a:t>
            </a:r>
            <a:br>
              <a:rPr sz="1400"/>
            </a:b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(most general purpose registers are set to 0)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kickoff()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is used as return address at the top of the stack</a:t>
            </a:r>
            <a:br>
              <a:rPr sz="1400"/>
            </a:b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starting point for all coroutines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kickoff()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expects a 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&amp;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mut 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self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reference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→ first parameter of a function is expected to be in RDI register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rsp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is stored in stored in 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stack_ptr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24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Coroutine::prepare_stack()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25" name=""/>
          <p:cNvPicPr/>
          <p:nvPr/>
        </p:nvPicPr>
        <p:blipFill>
          <a:blip r:embed="rId1"/>
          <a:stretch/>
        </p:blipFill>
        <p:spPr>
          <a:xfrm>
            <a:off x="6384600" y="1247040"/>
            <a:ext cx="2075400" cy="361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7444149E-1557-4D1F-91A5-A8E2CF2EF48C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PlaceHolder 1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Call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start()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on a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object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This calls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coroutine_start()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,an assembly function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Switches to the prepared stack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Pops the values from the stack into the designated CPU registers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Returns into 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kickoff()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parameter for 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kickoff()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must be loaded into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rdi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stehen (prepared on the stack)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27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Starting the first coroutine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8" name="TextBox 2"/>
          <p:cNvSpPr/>
          <p:nvPr/>
        </p:nvSpPr>
        <p:spPr>
          <a:xfrm>
            <a:off x="845280" y="1566720"/>
            <a:ext cx="6696360" cy="1566000"/>
          </a:xfrm>
          <a:prstGeom prst="rect">
            <a:avLst/>
          </a:prstGeom>
          <a:solidFill>
            <a:srgbClr val="FFFF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t">
            <a:spAutoFit/>
          </a:bodyPr>
          <a:p>
            <a:r>
              <a:rPr lang="en-US" sz="14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unsafe extern </a:t>
            </a:r>
            <a:r>
              <a:rPr lang="en-US" sz="14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"C" </a:t>
            </a:r>
            <a:r>
              <a:rPr lang="en-US" sz="14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fn </a:t>
            </a:r>
            <a:r>
              <a:rPr lang="en-US" sz="14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coroutine_start</a:t>
            </a:r>
            <a:r>
              <a:rPr lang="en-US" sz="14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(stack_ptr: </a:t>
            </a:r>
            <a:r>
              <a:rPr lang="en-US" sz="14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usize</a:t>
            </a:r>
            <a:r>
              <a:rPr lang="en-US" sz="14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{ … }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defTabSz="68616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Times New Roman"/>
              </a:rPr>
              <a:t> 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 fn </a:t>
            </a:r>
            <a:r>
              <a:rPr lang="en-US" sz="1400" b="0" u="none" strike="noStrike">
                <a:solidFill>
                  <a:srgbClr val="57AAF7"/>
                </a:solidFill>
                <a:effectLst/>
                <a:uFillTx/>
                <a:latin typeface="JetBrains Mono"/>
                <a:ea typeface="JetBrains Mono"/>
              </a:rPr>
              <a:t>start</a:t>
            </a:r>
            <a:r>
              <a:rPr lang="en-US" sz="14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lang="en-US" sz="14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mut </a:t>
            </a:r>
            <a:r>
              <a:rPr lang="en-US" sz="1400" b="0" u="none" strike="noStrike">
                <a:solidFill>
                  <a:srgbClr val="D98EB3"/>
                </a:solidFill>
                <a:effectLst/>
                <a:uFillTx/>
                <a:latin typeface="JetBrains Mono"/>
                <a:ea typeface="JetBrains Mono"/>
              </a:rPr>
              <a:t>self</a:t>
            </a:r>
            <a:r>
              <a:rPr lang="en-US" sz="14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400"/>
            </a:br>
            <a:r>
              <a:rPr lang="en-US" sz="14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4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unsafe </a:t>
            </a:r>
            <a:r>
              <a:rPr lang="en-US" sz="14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400"/>
            </a:br>
            <a:r>
              <a:rPr lang="en-US" sz="14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coroutine_start(</a:t>
            </a:r>
            <a:r>
              <a:rPr lang="en-US" sz="1400" b="0" u="none" strike="noStrike">
                <a:solidFill>
                  <a:srgbClr val="D98EB3"/>
                </a:solidFill>
                <a:effectLst/>
                <a:uFillTx/>
                <a:latin typeface="JetBrains Mono"/>
                <a:ea typeface="JetBrains Mono"/>
              </a:rPr>
              <a:t>self</a:t>
            </a:r>
            <a:r>
              <a:rPr lang="en-US" sz="14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US" sz="14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stack_ptr</a:t>
            </a:r>
            <a:r>
              <a:rPr lang="en-US" sz="14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400"/>
            </a:br>
            <a:r>
              <a:rPr lang="en-US" sz="14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400"/>
            </a:br>
            <a:r>
              <a:rPr lang="en-US" sz="14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D9808A61-8F58-4B69-B0D3-A0D2D7018633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PlaceHolder 1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 switch between coroutines is initiated by calling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switch()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way, the active coroutine can switch to next one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Every coroutine stores a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next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JetBrains Mono"/>
              </a:rPr>
              <a:t> pointer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switch itself is performed in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coroutine_switch()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0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Switching Coroutines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1" name="TextBox 2"/>
          <p:cNvSpPr/>
          <p:nvPr/>
        </p:nvSpPr>
        <p:spPr>
          <a:xfrm>
            <a:off x="845280" y="2503080"/>
            <a:ext cx="6696360" cy="2022120"/>
          </a:xfrm>
          <a:prstGeom prst="rect">
            <a:avLst/>
          </a:prstGeom>
          <a:solidFill>
            <a:srgbClr val="FFFF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000" rIns="0" bIns="36000" anchor="t">
            <a:spAutoFit/>
          </a:bodyPr>
          <a:p>
            <a:r>
              <a:rPr lang="en-US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unsafe extern </a:t>
            </a:r>
            <a:r>
              <a:rPr lang="en-US" sz="1600" b="0" u="none" strike="noStrike">
                <a:solidFill>
                  <a:srgbClr val="6AAB73"/>
                </a:solidFill>
                <a:effectLst/>
                <a:uFillTx/>
                <a:latin typeface="JetBrains Mono"/>
                <a:ea typeface="JetBrains Mono"/>
              </a:rPr>
              <a:t>"C" </a:t>
            </a:r>
            <a:r>
              <a:rPr lang="en-US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fn </a:t>
            </a:r>
            <a:r>
              <a:rPr lang="en-US" sz="1600" b="0" u="none" strike="noStrike">
                <a:solidFill>
                  <a:srgbClr val="56A8F5"/>
                </a:solidFill>
                <a:effectLst/>
                <a:uFillTx/>
                <a:latin typeface="JetBrains Mono"/>
                <a:ea typeface="JetBrains Mono"/>
              </a:rPr>
              <a:t>coroutine_switch</a:t>
            </a: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(current_stack_ptr: *</a:t>
            </a:r>
            <a:r>
              <a:rPr lang="en-US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mut usize</a:t>
            </a: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next_stack: </a:t>
            </a:r>
            <a:r>
              <a:rPr lang="en-US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usize</a:t>
            </a: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{ … }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pub fn </a:t>
            </a:r>
            <a:r>
              <a:rPr lang="en-US" sz="1600" b="0" u="none" strike="noStrike">
                <a:solidFill>
                  <a:srgbClr val="57AAF7"/>
                </a:solidFill>
                <a:effectLst/>
                <a:uFillTx/>
                <a:latin typeface="JetBrains Mono"/>
                <a:ea typeface="JetBrains Mono"/>
              </a:rPr>
              <a:t>switch</a:t>
            </a: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(&amp;</a:t>
            </a:r>
            <a:r>
              <a:rPr lang="en-US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mut </a:t>
            </a:r>
            <a:r>
              <a:rPr lang="en-US" sz="1600" b="0" u="none" strike="noStrike">
                <a:solidFill>
                  <a:srgbClr val="D98EB3"/>
                </a:solidFill>
                <a:effectLst/>
                <a:uFillTx/>
                <a:latin typeface="JetBrains Mono"/>
                <a:ea typeface="JetBrains Mono"/>
              </a:rPr>
              <a:t>self</a:t>
            </a: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 {</a:t>
            </a:r>
            <a:br>
              <a:rPr sz="1600"/>
            </a:b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</a:t>
            </a:r>
            <a:r>
              <a:rPr lang="en-US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unsafe </a:t>
            </a: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{</a:t>
            </a:r>
            <a:br>
              <a:rPr sz="1600"/>
            </a:b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    coroutine_switch(&amp;</a:t>
            </a:r>
            <a:r>
              <a:rPr lang="en-US" sz="1600" b="0" u="none" strike="noStrike">
                <a:solidFill>
                  <a:srgbClr val="CF8E6D"/>
                </a:solidFill>
                <a:effectLst/>
                <a:uFillTx/>
                <a:latin typeface="JetBrains Mono"/>
                <a:ea typeface="JetBrains Mono"/>
              </a:rPr>
              <a:t>mut </a:t>
            </a:r>
            <a:r>
              <a:rPr lang="en-US" sz="1600" b="0" u="none" strike="noStrike">
                <a:solidFill>
                  <a:srgbClr val="D98EB3"/>
                </a:solidFill>
                <a:effectLst/>
                <a:uFillTx/>
                <a:latin typeface="JetBrains Mono"/>
                <a:ea typeface="JetBrains Mono"/>
              </a:rPr>
              <a:t>self</a:t>
            </a: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US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stack_ptr</a:t>
            </a: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, (*</a:t>
            </a:r>
            <a:r>
              <a:rPr lang="en-US" sz="1600" b="0" u="none" strike="noStrike">
                <a:solidFill>
                  <a:srgbClr val="D98EB3"/>
                </a:solidFill>
                <a:effectLst/>
                <a:uFillTx/>
                <a:latin typeface="JetBrains Mono"/>
                <a:ea typeface="JetBrains Mono"/>
              </a:rPr>
              <a:t>self</a:t>
            </a: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.</a:t>
            </a:r>
            <a:r>
              <a:rPr lang="en-US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next</a:t>
            </a: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).</a:t>
            </a:r>
            <a:r>
              <a:rPr lang="en-US" sz="1600" b="0" u="none" strike="noStrike">
                <a:solidFill>
                  <a:srgbClr val="C77DBB"/>
                </a:solidFill>
                <a:effectLst/>
                <a:uFillTx/>
                <a:latin typeface="JetBrains Mono"/>
                <a:ea typeface="JetBrains Mono"/>
              </a:rPr>
              <a:t>stack_ptr</a:t>
            </a: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br>
              <a:rPr sz="1600"/>
            </a:b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    }</a:t>
            </a:r>
            <a:br>
              <a:rPr sz="1600"/>
            </a:br>
            <a:r>
              <a:rPr lang="en-US" sz="1600" b="0" u="none" strike="noStrike">
                <a:solidFill>
                  <a:srgbClr val="BCBEC4"/>
                </a:solidFill>
                <a:effectLst/>
                <a:uFillTx/>
                <a:latin typeface="JetBrains Mono"/>
                <a:ea typeface="JetBrains Mono"/>
              </a:rPr>
              <a:t>}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20AA80CF-8A32-4CB2-BB28-03B22C38DF1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PlaceHolder 1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coroutine_switch(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current_stack_ptr: *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mut usize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, next_stack: 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usize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an assembly function 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Pushes the CPU register contents onto the stack and stores the current stack pointer (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rsp)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in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 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current_stack_ptr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afterward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Then, switches the stack pointer (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rsp)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to 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next_stack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Now, the CPU registers are popped from the new stack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Finally, return using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ret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Resumes the coroutine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If a coroutine is switched to for the first time, 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coroutine_switch()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returns into 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kickoff()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(similar to starting the first coroutine with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start())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Otherwise,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ret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returns into 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</a:t>
            </a: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::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JetBrains Mono"/>
                <a:ea typeface="JetBrains Mono"/>
              </a:rPr>
              <a:t>coroutine_switch()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and from there to where the coroutine left, when it initiated the switch.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3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Switching Coroutines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AFFD29E0-2A22-4755-8CEC-F789782847DF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84563</TotalTime>
  <Application>LibreOffice/26.2.1.2$Linux_X86_64 LibreOffice_project/5937a82db3889b586a62e0a27a0d74b840403d7c</Application>
  <AppVersion>15.0000</AppVersion>
  <Words>507</Words>
  <Paragraphs>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dcterms:modified xsi:type="dcterms:W3CDTF">2026-03-20T15:27:37Z</dcterms:modified>
  <cp:revision>1688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Custom</vt:lpwstr>
  </property>
  <property fmtid="{D5CDD505-2E9C-101B-9397-08002B2CF9AE}" pid="4" name="Slides">
    <vt:i4>8</vt:i4>
  </property>
</Properties>
</file>