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844C5E-B8D9-4B7B-8C96-D73503E869E7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40X" fmla="*/ 0 w 9701"/>
              <a:gd name="GluePoint40Y" fmla="*/ 0 h 8800"/>
              <a:gd name="GluePoint102X" fmla="*/ 0 w 9701"/>
              <a:gd name="GluePoint102Y" fmla="*/ 9701 h 8800"/>
            </a:gdLst>
            <a:ahLst/>
            <a:cxnLst>
              <a:cxn ang="0">
                <a:pos x="GluePoint40X" y="GluePoint40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400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40X" fmla="*/ 0 w 9701"/>
              <a:gd name="GluePoint40Y" fmla="*/ 0 h 8800"/>
              <a:gd name="GluePoint102X" fmla="*/ 0 w 9701"/>
              <a:gd name="GluePoint102Y" fmla="*/ 9701 h 8800"/>
            </a:gdLst>
            <a:ahLst/>
            <a:cxnLst>
              <a:cxn ang="0">
                <a:pos x="GluePoint40X" y="GluePoint40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9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900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596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224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600" cy="118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728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296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5X" fmla="*/ 0 w 398"/>
                <a:gd name="GluePoint5Y" fmla="*/ 0 h 450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4X" fmla="*/ 0 w 1104"/>
                <a:gd name="GluePoint4Y" fmla="*/ 552 h 1096"/>
                <a:gd name="GluePoint5X" fmla="*/ 0 w 1104"/>
                <a:gd name="GluePoint5Y" fmla="*/ 0 h 1096"/>
              </a:gdLst>
              <a:ahLst/>
              <a:cxnLst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3X" fmla="*/ 0 w 1427"/>
                <a:gd name="GluePoint3Y" fmla="*/ 0 h 1096"/>
              </a:gdLst>
              <a:ahLst/>
              <a:cxnLst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764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228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ruppieren 52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0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05" name="Freihandform: Form 3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ihandform: Form 3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ihandform: Form 3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ihandform: Form 3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ihandform: Form 3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4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1" name="Freihandform: Form 17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ihandform: Form 18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ihandform: Form 1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15" name="Freihandform: Form 3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3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19" name="Freihandform: Form 3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2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ihandform: Form 2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ihandform: Form 2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25" name="Freihandform: Form 2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2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2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7EECD1F-282A-4FE4-8F62-FE18F67F262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864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Gerader Verbinder 45"/>
          <p:cNvCxnSpPr/>
          <p:nvPr/>
        </p:nvCxnSpPr>
        <p:spPr>
          <a:xfrm>
            <a:off x="4464000" y="974520"/>
            <a:ext cx="289008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64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3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4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4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5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5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6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0F6ED51-6D48-4AD0-9828-1500F5DF6A5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7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CBCE8C3-CE1A-48A5-9939-098FE4D01D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2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uppieren 53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4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94EBD5F-38CD-485C-81CB-CBBEDC3929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erader Verbinder 46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3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440" cy="491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0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5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58" name="Freihandform: Form 68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69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70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71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72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ihandform: Form 73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4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ihandform: Form 4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68" name="Freihandform: Form 66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67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50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72" name="Freihandform: Form 6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6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4" name="Freihandform: Form 52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5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ihandform: Form 5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78" name="Freihandform: Form 6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6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6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ihandform: Form 6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ruppieren 54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B3B5599-82FD-4146-8165-AE3C38D7D79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1" name="Gerader Verbinder 47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360" cy="243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360" cy="2420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6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6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2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28" name="Freihandform: Form 69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70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71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72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73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74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ihandform: Form 46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4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38" name="Freihandform: Form 67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8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5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42" name="Freihandform: Form 65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66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Freihandform: Form 58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59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48" name="Freihandform: Form 61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62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63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64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5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5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5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5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5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6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7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7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41A82D3-535E-48F3-9EA1-009AE987A90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9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9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9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9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0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1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1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6C80AA1-4F54-4843-A127-FD82F507064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8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3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3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3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5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5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153B12C-F31A-47D4-B1D5-31816448659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3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7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7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8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9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2EE3182-A606-4381-A82B-4A801F79A6F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0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0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0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0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0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D15C9F7-3504-46CD-BC48-B8162681892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6BA07BD-2AAB-4CEA-BF27-0EC98E7CD7D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360" cy="331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E835741-3366-4F89-AD83-F98DA373469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1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2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2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3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4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98A7C93-6D6C-497B-B95A-A2733E3A327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4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4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50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60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64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6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70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6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0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8F2906F-FBC3-4C9B-90AA-9CA7A3571E9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15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25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29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35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4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4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4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4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5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6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6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C7135EE-AA7A-47F4-89DF-7ACB77832E2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50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68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C3FBFA7-8D48-4A17-836E-38884AE5FF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1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1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1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2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3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3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F85C524-3022-4509-99BB-E9F0F626A88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36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5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5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5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5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6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7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7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8A85668-4176-46D5-ACD9-CBDA1BFB3F0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8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9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9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0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0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1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F59EC18-13AF-4CAC-BF08-D2B9A1CBEFF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2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9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0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31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32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8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1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42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4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46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8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1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52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6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0F010CD-D451-4D99-A714-6205B359889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6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6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7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8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085D1C0-CD78-4CD7-99D2-C3EC8B56C6D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45C094D-587C-42D8-A432-413CB851100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18A7C4A-0A0A-4B71-9B2B-9EE77855037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7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5X" fmla="*/ 0 w 746"/>
                  <a:gd name="GluePoint5Y" fmla="*/ 0 h 745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3X" fmla="*/ 0 w 968"/>
                  <a:gd name="GluePoint3Y" fmla="*/ 0 h 745"/>
                </a:gdLst>
                <a:ahLst/>
                <a:cxnLst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5X" fmla="*/ 0 w 161"/>
                <a:gd name="GluePoint5Y" fmla="*/ 0 h 121"/>
              </a:gdLst>
              <a:ahLst/>
              <a:cxnLst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2X" fmla="*/ 0 w 176"/>
                  <a:gd name="GluePoint2Y" fmla="*/ 0 h 96"/>
                </a:gdLst>
                <a:ahLst/>
                <a:cxnLst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1X" fmla="*/ 0 w 161"/>
                <a:gd name="GluePoint11Y" fmla="*/ 0 h 121"/>
              </a:gdLst>
              <a:ahLst/>
              <a:cxnLst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5X" fmla="*/ 0 w 277"/>
                  <a:gd name="GluePoint5Y" fmla="*/ 0 h 317"/>
                </a:gdLst>
                <a:ahLst/>
                <a:cxnLst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5X" fmla="*/ 0 w 819"/>
              <a:gd name="GluePoint5Y" fmla="*/ 0 h 937"/>
            </a:gdLst>
            <a:ahLst/>
            <a:cxnLst>
              <a:cxn ang="0">
                <a:pos x="GluePoint5X" y="GluePoint5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81DBF33-48EB-49B7-AAFC-B577B2E25A1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949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HeineOS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Assignment material: Memory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280" cy="6040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Aspects of Memory Management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Wasted memory (internal and external fragmentation)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Managing free/occupied memory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Reintegration of unused (freed) memory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D93E9FF-8BC1-4DA3-BDDE-7ADEA14DBB4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Internal Fragmentation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more memory is supplied than was requested, unused memory is wasted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other hand, sparing very small chunks of memory makes no sense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These small heap-chunks need to be managed and are almost unusable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especially critical, if many small chunks of memory are allocated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Example: 28 Byte are allocated,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 Byte are supplied → 4 Byte are wasted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this happens 1 billion times,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lose 4 GB of main memory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29" name="Group 2"/>
          <p:cNvGrpSpPr/>
          <p:nvPr/>
        </p:nvGrpSpPr>
        <p:grpSpPr>
          <a:xfrm>
            <a:off x="6374160" y="3219840"/>
            <a:ext cx="2243880" cy="1586880"/>
            <a:chOff x="6374160" y="3219840"/>
            <a:chExt cx="2243880" cy="1586880"/>
          </a:xfrm>
        </p:grpSpPr>
        <p:sp>
          <p:nvSpPr>
            <p:cNvPr id="1330" name="Rechteck 9"/>
            <p:cNvSpPr/>
            <p:nvPr/>
          </p:nvSpPr>
          <p:spPr>
            <a:xfrm>
              <a:off x="6374160" y="3232080"/>
              <a:ext cx="1676160" cy="157464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Used Data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Rechteck 4"/>
            <p:cNvSpPr/>
            <p:nvPr/>
          </p:nvSpPr>
          <p:spPr>
            <a:xfrm rot="5400000">
              <a:off x="7544520" y="3732840"/>
              <a:ext cx="1580400" cy="566280"/>
            </a:xfrm>
            <a:prstGeom prst="rect">
              <a:avLst/>
            </a:prstGeom>
            <a:solidFill>
              <a:srgbClr val="FFB3B3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Internal Fragmentation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2" name="Rectangle 5"/>
            <p:cNvSpPr/>
            <p:nvPr/>
          </p:nvSpPr>
          <p:spPr>
            <a:xfrm>
              <a:off x="6374160" y="3219840"/>
              <a:ext cx="2243160" cy="15865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3" name="TextBox 8"/>
          <p:cNvSpPr/>
          <p:nvPr/>
        </p:nvSpPr>
        <p:spPr>
          <a:xfrm>
            <a:off x="6118920" y="2850840"/>
            <a:ext cx="29066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Chunk of memory on the heap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A9CBC7E-CD04-4D62-8C11-8744CF0AA79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Internal Fragmentation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Over time, allocations and deallocations result in many small chunks of free memory scattered throughout the heap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heap may not be able to serve a large allocation request, although in theory enough free memory is available (but not </a:t>
            </a:r>
            <a:r>
              <a:rPr lang="de-DE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coherent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7" name="Group 1"/>
          <p:cNvGrpSpPr/>
          <p:nvPr/>
        </p:nvGrpSpPr>
        <p:grpSpPr>
          <a:xfrm>
            <a:off x="1421280" y="3610800"/>
            <a:ext cx="4938480" cy="970560"/>
            <a:chOff x="1421280" y="3610800"/>
            <a:chExt cx="4938480" cy="970560"/>
          </a:xfrm>
        </p:grpSpPr>
        <p:sp>
          <p:nvSpPr>
            <p:cNvPr id="1338" name="Rechteck 36"/>
            <p:cNvSpPr/>
            <p:nvPr/>
          </p:nvSpPr>
          <p:spPr>
            <a:xfrm rot="16200000">
              <a:off x="1218600" y="3813120"/>
              <a:ext cx="970560" cy="565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Heap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9" name="Group 10"/>
            <p:cNvGrpSpPr/>
            <p:nvPr/>
          </p:nvGrpSpPr>
          <p:grpSpPr>
            <a:xfrm>
              <a:off x="1925280" y="3743640"/>
              <a:ext cx="4434480" cy="664920"/>
              <a:chOff x="1925280" y="3743640"/>
              <a:chExt cx="4434480" cy="664920"/>
            </a:xfrm>
          </p:grpSpPr>
          <p:sp>
            <p:nvSpPr>
              <p:cNvPr id="1340" name="Rechteck 9"/>
              <p:cNvSpPr/>
              <p:nvPr/>
            </p:nvSpPr>
            <p:spPr>
              <a:xfrm>
                <a:off x="1925280" y="3747600"/>
                <a:ext cx="9831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Rechteck 4"/>
              <p:cNvSpPr/>
              <p:nvPr/>
            </p:nvSpPr>
            <p:spPr>
              <a:xfrm>
                <a:off x="2909160" y="3747600"/>
                <a:ext cx="422280" cy="660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45000" tIns="90000" rIns="45000" bIns="90000" anchor="ctr" vert="vert">
                <a:noAutofit/>
              </a:bodyPr>
              <a:p>
                <a:endPara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Rechteck 9"/>
              <p:cNvSpPr/>
              <p:nvPr/>
            </p:nvSpPr>
            <p:spPr>
              <a:xfrm>
                <a:off x="3332160" y="374760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Rechteck 9"/>
              <p:cNvSpPr/>
              <p:nvPr/>
            </p:nvSpPr>
            <p:spPr>
              <a:xfrm>
                <a:off x="4105800" y="374760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4" name="Rechteck 9"/>
              <p:cNvSpPr/>
              <p:nvPr/>
            </p:nvSpPr>
            <p:spPr>
              <a:xfrm>
                <a:off x="4689360" y="374580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Rechteck 9"/>
              <p:cNvSpPr/>
              <p:nvPr/>
            </p:nvSpPr>
            <p:spPr>
              <a:xfrm>
                <a:off x="5217480" y="374364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Rechteck 9"/>
              <p:cNvSpPr/>
              <p:nvPr/>
            </p:nvSpPr>
            <p:spPr>
              <a:xfrm>
                <a:off x="5940000" y="374364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7" name="Rectangle 20"/>
              <p:cNvSpPr/>
              <p:nvPr/>
            </p:nvSpPr>
            <p:spPr>
              <a:xfrm>
                <a:off x="1925280" y="3747600"/>
                <a:ext cx="4428360" cy="66096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8" name="Rechteck 19"/>
          <p:cNvSpPr/>
          <p:nvPr/>
        </p:nvSpPr>
        <p:spPr>
          <a:xfrm>
            <a:off x="4445640" y="2863080"/>
            <a:ext cx="731520" cy="706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?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Rechteck 9"/>
          <p:cNvSpPr/>
          <p:nvPr/>
        </p:nvSpPr>
        <p:spPr>
          <a:xfrm>
            <a:off x="3903480" y="2891160"/>
            <a:ext cx="594360" cy="64980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50" name="Group 23"/>
          <p:cNvGrpSpPr/>
          <p:nvPr/>
        </p:nvGrpSpPr>
        <p:grpSpPr>
          <a:xfrm>
            <a:off x="6858000" y="3806280"/>
            <a:ext cx="862200" cy="442800"/>
            <a:chOff x="6858000" y="3806280"/>
            <a:chExt cx="862200" cy="442800"/>
          </a:xfrm>
        </p:grpSpPr>
        <p:sp>
          <p:nvSpPr>
            <p:cNvPr id="1351" name="Rechteck 9"/>
            <p:cNvSpPr/>
            <p:nvPr/>
          </p:nvSpPr>
          <p:spPr>
            <a:xfrm>
              <a:off x="6859440" y="3834720"/>
              <a:ext cx="93240" cy="17172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Rechteck 19"/>
            <p:cNvSpPr/>
            <p:nvPr/>
          </p:nvSpPr>
          <p:spPr>
            <a:xfrm>
              <a:off x="6922440" y="3806280"/>
              <a:ext cx="797760" cy="1998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686160">
                <a:lnSpc>
                  <a:spcPct val="100000"/>
                </a:lnSpc>
              </a:pPr>
              <a:r>
                <a:rPr lang="de-DE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used</a:t>
              </a:r>
              <a:endPara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Rechteck 9"/>
            <p:cNvSpPr/>
            <p:nvPr/>
          </p:nvSpPr>
          <p:spPr>
            <a:xfrm>
              <a:off x="6858000" y="4077360"/>
              <a:ext cx="93240" cy="1717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Rechteck 19"/>
            <p:cNvSpPr/>
            <p:nvPr/>
          </p:nvSpPr>
          <p:spPr>
            <a:xfrm>
              <a:off x="6921360" y="4048920"/>
              <a:ext cx="797760" cy="1998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686160">
                <a:lnSpc>
                  <a:spcPct val="100000"/>
                </a:lnSpc>
              </a:pPr>
              <a:r>
                <a:rPr lang="de-DE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free</a:t>
              </a:r>
              <a:endPara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37020AA-0ADD-4F2C-8336-F7E50A33459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Internal Fragmentation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Compacting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the heap solves this problem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time-consuming for many blocks and may require hardware support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8" name="Group 2"/>
          <p:cNvGrpSpPr/>
          <p:nvPr/>
        </p:nvGrpSpPr>
        <p:grpSpPr>
          <a:xfrm>
            <a:off x="6646680" y="1982160"/>
            <a:ext cx="862200" cy="442800"/>
            <a:chOff x="6646680" y="1982160"/>
            <a:chExt cx="862200" cy="442800"/>
          </a:xfrm>
        </p:grpSpPr>
        <p:sp>
          <p:nvSpPr>
            <p:cNvPr id="1359" name="Rechteck 9"/>
            <p:cNvSpPr/>
            <p:nvPr/>
          </p:nvSpPr>
          <p:spPr>
            <a:xfrm>
              <a:off x="6648120" y="2010600"/>
              <a:ext cx="93240" cy="17172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Rechteck 19"/>
            <p:cNvSpPr/>
            <p:nvPr/>
          </p:nvSpPr>
          <p:spPr>
            <a:xfrm>
              <a:off x="6711120" y="1982160"/>
              <a:ext cx="797760" cy="1998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686160">
                <a:lnSpc>
                  <a:spcPct val="100000"/>
                </a:lnSpc>
              </a:pPr>
              <a:r>
                <a:rPr lang="de-DE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belegt</a:t>
              </a:r>
              <a:endPara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Rechteck 9"/>
            <p:cNvSpPr/>
            <p:nvPr/>
          </p:nvSpPr>
          <p:spPr>
            <a:xfrm>
              <a:off x="6646680" y="2253240"/>
              <a:ext cx="93240" cy="1717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Rechteck 19"/>
            <p:cNvSpPr/>
            <p:nvPr/>
          </p:nvSpPr>
          <p:spPr>
            <a:xfrm>
              <a:off x="6709680" y="2225160"/>
              <a:ext cx="797760" cy="1998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686160">
                <a:lnSpc>
                  <a:spcPct val="100000"/>
                </a:lnSpc>
              </a:pPr>
              <a:r>
                <a:rPr lang="de-DE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frei</a:t>
              </a:r>
              <a:endPara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3" name="Group 28"/>
          <p:cNvGrpSpPr/>
          <p:nvPr/>
        </p:nvGrpSpPr>
        <p:grpSpPr>
          <a:xfrm>
            <a:off x="1383120" y="1748520"/>
            <a:ext cx="4932360" cy="970560"/>
            <a:chOff x="1383120" y="1748520"/>
            <a:chExt cx="4932360" cy="970560"/>
          </a:xfrm>
        </p:grpSpPr>
        <p:sp>
          <p:nvSpPr>
            <p:cNvPr id="1364" name="Rechteck 36"/>
            <p:cNvSpPr/>
            <p:nvPr/>
          </p:nvSpPr>
          <p:spPr>
            <a:xfrm rot="16200000">
              <a:off x="1180440" y="1950840"/>
              <a:ext cx="970560" cy="565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Heap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65" name="Group 30"/>
            <p:cNvGrpSpPr/>
            <p:nvPr/>
          </p:nvGrpSpPr>
          <p:grpSpPr>
            <a:xfrm>
              <a:off x="1887120" y="1874520"/>
              <a:ext cx="4428360" cy="678600"/>
              <a:chOff x="1887120" y="1874520"/>
              <a:chExt cx="4428360" cy="678600"/>
            </a:xfrm>
          </p:grpSpPr>
          <p:sp>
            <p:nvSpPr>
              <p:cNvPr id="1366" name="Rechteck 9"/>
              <p:cNvSpPr/>
              <p:nvPr/>
            </p:nvSpPr>
            <p:spPr>
              <a:xfrm>
                <a:off x="1887120" y="1885320"/>
                <a:ext cx="9831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7" name="Rechteck 4"/>
              <p:cNvSpPr/>
              <p:nvPr/>
            </p:nvSpPr>
            <p:spPr>
              <a:xfrm>
                <a:off x="2871000" y="1885320"/>
                <a:ext cx="422280" cy="660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45000" tIns="90000" rIns="45000" bIns="90000" anchor="ctr" vert="vert">
                <a:noAutofit/>
              </a:bodyPr>
              <a:p>
                <a:endPara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8" name="Rechteck 9"/>
              <p:cNvSpPr/>
              <p:nvPr/>
            </p:nvSpPr>
            <p:spPr>
              <a:xfrm>
                <a:off x="2866680" y="188136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9" name="Rechteck 9"/>
              <p:cNvSpPr/>
              <p:nvPr/>
            </p:nvSpPr>
            <p:spPr>
              <a:xfrm>
                <a:off x="3287160" y="189216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0" name="Rechteck 9"/>
              <p:cNvSpPr/>
              <p:nvPr/>
            </p:nvSpPr>
            <p:spPr>
              <a:xfrm>
                <a:off x="3714840" y="187452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1" name="Rechteck 9"/>
              <p:cNvSpPr/>
              <p:nvPr/>
            </p:nvSpPr>
            <p:spPr>
              <a:xfrm>
                <a:off x="4128120" y="188136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2" name="Rechteck 9"/>
              <p:cNvSpPr/>
              <p:nvPr/>
            </p:nvSpPr>
            <p:spPr>
              <a:xfrm>
                <a:off x="4555800" y="1881360"/>
                <a:ext cx="419760" cy="660960"/>
              </a:xfrm>
              <a:prstGeom prst="rect">
                <a:avLst/>
              </a:prstGeom>
              <a:solidFill>
                <a:srgbClr val="FFFF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3" name="Rectangle 38"/>
              <p:cNvSpPr/>
              <p:nvPr/>
            </p:nvSpPr>
            <p:spPr>
              <a:xfrm>
                <a:off x="1887120" y="1885320"/>
                <a:ext cx="4428360" cy="66096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6D1C53F-A73B-4CB3-988A-CC6DCAD176D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Managing free memory in a table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Free chunks of memory are managed in a separate table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 (f=free, u=used, Unit: KB): 1f, 5u, 4f, 9u, 6f, 3u, 5f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Rectangle 1"/>
          <p:cNvSpPr/>
          <p:nvPr/>
        </p:nvSpPr>
        <p:spPr>
          <a:xfrm>
            <a:off x="91764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78" name="Rectangle 9"/>
          <p:cNvSpPr/>
          <p:nvPr/>
        </p:nvSpPr>
        <p:spPr>
          <a:xfrm>
            <a:off x="137052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79" name="Rectangle 10"/>
          <p:cNvSpPr/>
          <p:nvPr/>
        </p:nvSpPr>
        <p:spPr>
          <a:xfrm>
            <a:off x="159696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0" name="Rectangle 11"/>
          <p:cNvSpPr/>
          <p:nvPr/>
        </p:nvSpPr>
        <p:spPr>
          <a:xfrm>
            <a:off x="182340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1" name="Rectangle 14"/>
          <p:cNvSpPr/>
          <p:nvPr/>
        </p:nvSpPr>
        <p:spPr>
          <a:xfrm>
            <a:off x="204984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2" name="Rectangle 15"/>
          <p:cNvSpPr/>
          <p:nvPr/>
        </p:nvSpPr>
        <p:spPr>
          <a:xfrm>
            <a:off x="250236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3" name="Rectangle 16"/>
          <p:cNvSpPr/>
          <p:nvPr/>
        </p:nvSpPr>
        <p:spPr>
          <a:xfrm>
            <a:off x="272880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4" name="Rectangle 17"/>
          <p:cNvSpPr/>
          <p:nvPr/>
        </p:nvSpPr>
        <p:spPr>
          <a:xfrm>
            <a:off x="295524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5" name="Rectangle 18"/>
          <p:cNvSpPr/>
          <p:nvPr/>
        </p:nvSpPr>
        <p:spPr>
          <a:xfrm>
            <a:off x="340812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6" name="Rectangle 19"/>
          <p:cNvSpPr/>
          <p:nvPr/>
        </p:nvSpPr>
        <p:spPr>
          <a:xfrm>
            <a:off x="363456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7" name="Rectangle 20"/>
          <p:cNvSpPr/>
          <p:nvPr/>
        </p:nvSpPr>
        <p:spPr>
          <a:xfrm>
            <a:off x="386100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8" name="Rectangle 21"/>
          <p:cNvSpPr/>
          <p:nvPr/>
        </p:nvSpPr>
        <p:spPr>
          <a:xfrm>
            <a:off x="408744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9" name="Rectangle 22"/>
          <p:cNvSpPr/>
          <p:nvPr/>
        </p:nvSpPr>
        <p:spPr>
          <a:xfrm>
            <a:off x="431280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0" name="Rectangle 23"/>
          <p:cNvSpPr/>
          <p:nvPr/>
        </p:nvSpPr>
        <p:spPr>
          <a:xfrm>
            <a:off x="453924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1" name="Rectangle 24"/>
          <p:cNvSpPr/>
          <p:nvPr/>
        </p:nvSpPr>
        <p:spPr>
          <a:xfrm>
            <a:off x="476568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2" name="Rectangle 25"/>
          <p:cNvSpPr/>
          <p:nvPr/>
        </p:nvSpPr>
        <p:spPr>
          <a:xfrm>
            <a:off x="499212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3" name="Rectangle 26"/>
          <p:cNvSpPr/>
          <p:nvPr/>
        </p:nvSpPr>
        <p:spPr>
          <a:xfrm>
            <a:off x="544500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4" name="Rectangle 27"/>
          <p:cNvSpPr/>
          <p:nvPr/>
        </p:nvSpPr>
        <p:spPr>
          <a:xfrm>
            <a:off x="567144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5" name="Rectangle 39"/>
          <p:cNvSpPr/>
          <p:nvPr/>
        </p:nvSpPr>
        <p:spPr>
          <a:xfrm>
            <a:off x="589788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6" name="Rectangle 40"/>
          <p:cNvSpPr/>
          <p:nvPr/>
        </p:nvSpPr>
        <p:spPr>
          <a:xfrm>
            <a:off x="612396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7" name="Rectangle 41"/>
          <p:cNvSpPr/>
          <p:nvPr/>
        </p:nvSpPr>
        <p:spPr>
          <a:xfrm>
            <a:off x="635040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8" name="Rectangle 42"/>
          <p:cNvSpPr/>
          <p:nvPr/>
        </p:nvSpPr>
        <p:spPr>
          <a:xfrm>
            <a:off x="680328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9" name="Rectangle 43"/>
          <p:cNvSpPr/>
          <p:nvPr/>
        </p:nvSpPr>
        <p:spPr>
          <a:xfrm>
            <a:off x="7029720" y="246924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0" name="Rectangle 44"/>
          <p:cNvSpPr/>
          <p:nvPr/>
        </p:nvSpPr>
        <p:spPr>
          <a:xfrm>
            <a:off x="748260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45"/>
          <p:cNvSpPr/>
          <p:nvPr/>
        </p:nvSpPr>
        <p:spPr>
          <a:xfrm>
            <a:off x="770904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2" name="Rectangle 46"/>
          <p:cNvSpPr/>
          <p:nvPr/>
        </p:nvSpPr>
        <p:spPr>
          <a:xfrm>
            <a:off x="793548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3" name="Rectangle 47"/>
          <p:cNvSpPr/>
          <p:nvPr/>
        </p:nvSpPr>
        <p:spPr>
          <a:xfrm>
            <a:off x="8161560" y="246924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Box 48"/>
          <p:cNvSpPr/>
          <p:nvPr/>
        </p:nvSpPr>
        <p:spPr>
          <a:xfrm>
            <a:off x="744840" y="2945160"/>
            <a:ext cx="77644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0  1                     6                10                                     19                        25          28              33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Rectangle 53"/>
          <p:cNvSpPr/>
          <p:nvPr/>
        </p:nvSpPr>
        <p:spPr>
          <a:xfrm>
            <a:off x="1144080" y="2469240"/>
            <a:ext cx="11311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6" name="Rectangle 54"/>
          <p:cNvSpPr/>
          <p:nvPr/>
        </p:nvSpPr>
        <p:spPr>
          <a:xfrm>
            <a:off x="3181680" y="2469240"/>
            <a:ext cx="203616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7" name="Rectangle 55"/>
          <p:cNvSpPr/>
          <p:nvPr/>
        </p:nvSpPr>
        <p:spPr>
          <a:xfrm>
            <a:off x="6576840" y="2469240"/>
            <a:ext cx="67860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8" name="Rectangle 56"/>
          <p:cNvSpPr/>
          <p:nvPr/>
        </p:nvSpPr>
        <p:spPr>
          <a:xfrm>
            <a:off x="2275920" y="2469240"/>
            <a:ext cx="90504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9" name="Rectangle 57"/>
          <p:cNvSpPr/>
          <p:nvPr/>
        </p:nvSpPr>
        <p:spPr>
          <a:xfrm>
            <a:off x="5218560" y="2469240"/>
            <a:ext cx="135756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0" name="Rectangle 58"/>
          <p:cNvSpPr/>
          <p:nvPr/>
        </p:nvSpPr>
        <p:spPr>
          <a:xfrm>
            <a:off x="7256160" y="2469240"/>
            <a:ext cx="11311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1" name="Rectangle 59"/>
          <p:cNvSpPr/>
          <p:nvPr/>
        </p:nvSpPr>
        <p:spPr>
          <a:xfrm>
            <a:off x="917640" y="2469240"/>
            <a:ext cx="7469640" cy="51084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2" name=""/>
          <p:cNvGraphicFramePr/>
          <p:nvPr/>
        </p:nvGraphicFramePr>
        <p:xfrm>
          <a:off x="3626280" y="3278520"/>
          <a:ext cx="1406880" cy="1783800"/>
        </p:xfrm>
        <a:graphic>
          <a:graphicData uri="http://schemas.openxmlformats.org/drawingml/2006/table">
            <a:tbl>
              <a:tblPr/>
              <a:tblGrid>
                <a:gridCol w="703440"/>
                <a:gridCol w="703440"/>
              </a:tblGrid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Size</a:t>
                      </a:r>
                      <a:endParaRPr lang="de-DE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Adress</a:t>
                      </a:r>
                      <a:endParaRPr lang="de-DE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E733F6D-5E67-4151-B06B-8D9E4C7E09E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Managing free memory in a table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Advantages: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Easy to implement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 can be stored in a separate memory area, protecting it from unintentionally being overwritten by the program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Disadvantages: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demand for the table is unclear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Depends on the amount of free memory chunks → Unkown at compile time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allocation of a free memory chunk results in a gap in the table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The table memory also needs to be managed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9B4666A-1D24-4CA6-825D-13674B3EDC1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Managing free memory in a list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Link free chunks of memory through pointers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 (f=free, u=used, Unit KB): 1f, 5u, 4f, 9u, 6f, 3u, 5f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Rectangle 1"/>
          <p:cNvSpPr/>
          <p:nvPr/>
        </p:nvSpPr>
        <p:spPr>
          <a:xfrm>
            <a:off x="98964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0" name="Rectangle 2"/>
          <p:cNvSpPr/>
          <p:nvPr/>
        </p:nvSpPr>
        <p:spPr>
          <a:xfrm>
            <a:off x="1216080" y="2248920"/>
            <a:ext cx="22104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1" name="Rectangle 3"/>
          <p:cNvSpPr/>
          <p:nvPr/>
        </p:nvSpPr>
        <p:spPr>
          <a:xfrm>
            <a:off x="144252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2" name="Rectangle 4"/>
          <p:cNvSpPr/>
          <p:nvPr/>
        </p:nvSpPr>
        <p:spPr>
          <a:xfrm>
            <a:off x="166896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3" name="Rectangle 5"/>
          <p:cNvSpPr/>
          <p:nvPr/>
        </p:nvSpPr>
        <p:spPr>
          <a:xfrm>
            <a:off x="189540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4" name="Rectangle 8"/>
          <p:cNvSpPr/>
          <p:nvPr/>
        </p:nvSpPr>
        <p:spPr>
          <a:xfrm>
            <a:off x="1216080" y="2248920"/>
            <a:ext cx="11311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5" name="Rectangle 9"/>
          <p:cNvSpPr/>
          <p:nvPr/>
        </p:nvSpPr>
        <p:spPr>
          <a:xfrm>
            <a:off x="234792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6" name="Rectangle 10"/>
          <p:cNvSpPr/>
          <p:nvPr/>
        </p:nvSpPr>
        <p:spPr>
          <a:xfrm>
            <a:off x="257436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7" name="Rectangle 11"/>
          <p:cNvSpPr/>
          <p:nvPr/>
        </p:nvSpPr>
        <p:spPr>
          <a:xfrm>
            <a:off x="280080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8" name="Rectangle 14"/>
          <p:cNvSpPr/>
          <p:nvPr/>
        </p:nvSpPr>
        <p:spPr>
          <a:xfrm>
            <a:off x="2352600" y="2248920"/>
            <a:ext cx="90036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9" name="Rectangle 15"/>
          <p:cNvSpPr/>
          <p:nvPr/>
        </p:nvSpPr>
        <p:spPr>
          <a:xfrm>
            <a:off x="325368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0" name="Rectangle 16"/>
          <p:cNvSpPr/>
          <p:nvPr/>
        </p:nvSpPr>
        <p:spPr>
          <a:xfrm>
            <a:off x="348012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1" name="Rectangle 17"/>
          <p:cNvSpPr/>
          <p:nvPr/>
        </p:nvSpPr>
        <p:spPr>
          <a:xfrm>
            <a:off x="370656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2" name="Rectangle 18"/>
          <p:cNvSpPr/>
          <p:nvPr/>
        </p:nvSpPr>
        <p:spPr>
          <a:xfrm>
            <a:off x="393300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3" name="Rectangle 19"/>
          <p:cNvSpPr/>
          <p:nvPr/>
        </p:nvSpPr>
        <p:spPr>
          <a:xfrm>
            <a:off x="415944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4" name="Rectangle 20"/>
          <p:cNvSpPr/>
          <p:nvPr/>
        </p:nvSpPr>
        <p:spPr>
          <a:xfrm>
            <a:off x="438480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5" name="Rectangle 21"/>
          <p:cNvSpPr/>
          <p:nvPr/>
        </p:nvSpPr>
        <p:spPr>
          <a:xfrm>
            <a:off x="461124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6" name="Rectangle 22"/>
          <p:cNvSpPr/>
          <p:nvPr/>
        </p:nvSpPr>
        <p:spPr>
          <a:xfrm>
            <a:off x="483768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7" name="Rectangle 23"/>
          <p:cNvSpPr/>
          <p:nvPr/>
        </p:nvSpPr>
        <p:spPr>
          <a:xfrm>
            <a:off x="3249000" y="2248920"/>
            <a:ext cx="204084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8" name="Rectangle 24"/>
          <p:cNvSpPr/>
          <p:nvPr/>
        </p:nvSpPr>
        <p:spPr>
          <a:xfrm>
            <a:off x="529056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39" name="Rectangle 25"/>
          <p:cNvSpPr/>
          <p:nvPr/>
        </p:nvSpPr>
        <p:spPr>
          <a:xfrm>
            <a:off x="551700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0" name="Rectangle 26"/>
          <p:cNvSpPr/>
          <p:nvPr/>
        </p:nvSpPr>
        <p:spPr>
          <a:xfrm>
            <a:off x="574344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1" name="Rectangle 27"/>
          <p:cNvSpPr/>
          <p:nvPr/>
        </p:nvSpPr>
        <p:spPr>
          <a:xfrm>
            <a:off x="596988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2" name="Rectangle 28"/>
          <p:cNvSpPr/>
          <p:nvPr/>
        </p:nvSpPr>
        <p:spPr>
          <a:xfrm>
            <a:off x="619632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3" name="Rectangle 29"/>
          <p:cNvSpPr/>
          <p:nvPr/>
        </p:nvSpPr>
        <p:spPr>
          <a:xfrm>
            <a:off x="5295240" y="2248920"/>
            <a:ext cx="135324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4" name="Rectangle 30"/>
          <p:cNvSpPr/>
          <p:nvPr/>
        </p:nvSpPr>
        <p:spPr>
          <a:xfrm>
            <a:off x="664884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5" name="Rectangle 31"/>
          <p:cNvSpPr/>
          <p:nvPr/>
        </p:nvSpPr>
        <p:spPr>
          <a:xfrm>
            <a:off x="6875280" y="2248920"/>
            <a:ext cx="2257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6" name="Rectangle 32"/>
          <p:cNvSpPr/>
          <p:nvPr/>
        </p:nvSpPr>
        <p:spPr>
          <a:xfrm>
            <a:off x="6644520" y="2248920"/>
            <a:ext cx="682920" cy="510840"/>
          </a:xfrm>
          <a:prstGeom prst="rect">
            <a:avLst/>
          </a:prstGeom>
          <a:solidFill>
            <a:srgbClr val="FFFFB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7" name="Rectangle 33"/>
          <p:cNvSpPr/>
          <p:nvPr/>
        </p:nvSpPr>
        <p:spPr>
          <a:xfrm>
            <a:off x="732816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8" name="Rectangle 34"/>
          <p:cNvSpPr/>
          <p:nvPr/>
        </p:nvSpPr>
        <p:spPr>
          <a:xfrm>
            <a:off x="755460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9" name="Rectangle 35"/>
          <p:cNvSpPr/>
          <p:nvPr/>
        </p:nvSpPr>
        <p:spPr>
          <a:xfrm>
            <a:off x="778104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0" name="Rectangle 36"/>
          <p:cNvSpPr/>
          <p:nvPr/>
        </p:nvSpPr>
        <p:spPr>
          <a:xfrm>
            <a:off x="8007480" y="2248920"/>
            <a:ext cx="22572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1" name="Rectangle 37"/>
          <p:cNvSpPr/>
          <p:nvPr/>
        </p:nvSpPr>
        <p:spPr>
          <a:xfrm>
            <a:off x="7332840" y="2248920"/>
            <a:ext cx="1126800" cy="510840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2" name="TextBox 38"/>
          <p:cNvSpPr/>
          <p:nvPr/>
        </p:nvSpPr>
        <p:spPr>
          <a:xfrm>
            <a:off x="816840" y="2724840"/>
            <a:ext cx="776448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0  1                     6                10                                     19                        25          28              33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3" name="Straight Arrow Connector 39"/>
          <p:cNvCxnSpPr>
            <a:endCxn id="1425" idx="1"/>
          </p:cNvCxnSpPr>
          <p:nvPr/>
        </p:nvCxnSpPr>
        <p:spPr>
          <a:xfrm>
            <a:off x="1097280" y="2504520"/>
            <a:ext cx="1251000" cy="360"/>
          </a:xfrm>
          <a:prstGeom prst="straightConnector1">
            <a:avLst/>
          </a:prstGeom>
          <a:ln w="0">
            <a:solidFill>
              <a:srgbClr val="0432FF"/>
            </a:solidFill>
            <a:headEnd len="med" type="oval" w="med"/>
            <a:tailEnd len="lg" type="triangle" w="lg"/>
          </a:ln>
        </p:spPr>
      </p:cxnSp>
      <p:cxnSp>
        <p:nvCxnSpPr>
          <p:cNvPr id="1454" name="Straight Arrow Connector 40"/>
          <p:cNvCxnSpPr>
            <a:endCxn id="1437" idx="3"/>
          </p:cNvCxnSpPr>
          <p:nvPr/>
        </p:nvCxnSpPr>
        <p:spPr>
          <a:xfrm>
            <a:off x="2460960" y="2504520"/>
            <a:ext cx="2829240" cy="360"/>
          </a:xfrm>
          <a:prstGeom prst="straightConnector1">
            <a:avLst/>
          </a:prstGeom>
          <a:ln w="0">
            <a:solidFill>
              <a:srgbClr val="0432FF"/>
            </a:solidFill>
            <a:headEnd len="med" type="oval" w="med"/>
            <a:tailEnd len="lg" type="triangle" w="lg"/>
          </a:ln>
        </p:spPr>
      </p:cxnSp>
      <p:cxnSp>
        <p:nvCxnSpPr>
          <p:cNvPr id="1455" name="Straight Arrow Connector 41"/>
          <p:cNvCxnSpPr>
            <a:endCxn id="1446" idx="3"/>
          </p:cNvCxnSpPr>
          <p:nvPr/>
        </p:nvCxnSpPr>
        <p:spPr>
          <a:xfrm>
            <a:off x="5403600" y="2504520"/>
            <a:ext cx="1924200" cy="360"/>
          </a:xfrm>
          <a:prstGeom prst="straightConnector1">
            <a:avLst/>
          </a:prstGeom>
          <a:ln w="0">
            <a:solidFill>
              <a:srgbClr val="0432FF"/>
            </a:solidFill>
            <a:headEnd len="med" type="oval" w="med"/>
            <a:tailEnd len="lg" type="triangle" w="lg"/>
          </a:ln>
        </p:spPr>
      </p:cxnSp>
      <p:cxnSp>
        <p:nvCxnSpPr>
          <p:cNvPr id="1456" name="Straight Arrow Connector 42"/>
          <p:cNvCxnSpPr/>
          <p:nvPr/>
        </p:nvCxnSpPr>
        <p:spPr>
          <a:xfrm flipV="1">
            <a:off x="1097280" y="3032640"/>
            <a:ext cx="720" cy="396000"/>
          </a:xfrm>
          <a:prstGeom prst="straightConnector1">
            <a:avLst/>
          </a:prstGeom>
          <a:ln w="0">
            <a:solidFill>
              <a:srgbClr val="0432FF"/>
            </a:solidFill>
            <a:tailEnd len="lg" type="triangle" w="lg"/>
          </a:ln>
        </p:spPr>
      </p:cxnSp>
      <p:sp>
        <p:nvSpPr>
          <p:cNvPr id="1457" name="TextBox 43"/>
          <p:cNvSpPr/>
          <p:nvPr/>
        </p:nvSpPr>
        <p:spPr>
          <a:xfrm>
            <a:off x="606960" y="3420000"/>
            <a:ext cx="21524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Entry point of the free list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Rectangle 44"/>
          <p:cNvSpPr/>
          <p:nvPr/>
        </p:nvSpPr>
        <p:spPr>
          <a:xfrm>
            <a:off x="989640" y="2248920"/>
            <a:ext cx="7469640" cy="51084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Box 45"/>
          <p:cNvSpPr/>
          <p:nvPr/>
        </p:nvSpPr>
        <p:spPr>
          <a:xfrm>
            <a:off x="7305840" y="2367000"/>
            <a:ext cx="4971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End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96C6640-C6E5-47E3-A654-AF8B3ADA1BD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Managing free memory in a list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Advantages: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Does not require additional memory, as the free heap memory itself is used for storing the pointers and size information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Disadvantages: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 program writes beyond the boundary of an allocated chunk, it may corrupt the list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Sequential search for a fitting block is slow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Optimization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multiple lists for different magnitudes of chunk sizes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list requires its own entry point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D644F93-1EE9-4D42-94B3-B72CE3C45A7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Managing free memory in a list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Detail-Ansicht mit Meta-Daten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Rechteck 13"/>
          <p:cNvSpPr/>
          <p:nvPr/>
        </p:nvSpPr>
        <p:spPr>
          <a:xfrm>
            <a:off x="4354560" y="4734720"/>
            <a:ext cx="2447280" cy="11376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7" name="Rechteck 1"/>
          <p:cNvSpPr/>
          <p:nvPr/>
        </p:nvSpPr>
        <p:spPr>
          <a:xfrm>
            <a:off x="4354560" y="3079080"/>
            <a:ext cx="2447280" cy="718560"/>
          </a:xfrm>
          <a:prstGeom prst="rect">
            <a:avLst/>
          </a:prstGeom>
          <a:solidFill>
            <a:srgbClr val="D2D9FD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br>
              <a:rPr sz="1350"/>
            </a:br>
            <a:r>
              <a: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Rechteck 12"/>
          <p:cNvSpPr/>
          <p:nvPr/>
        </p:nvSpPr>
        <p:spPr>
          <a:xfrm>
            <a:off x="4346640" y="1104480"/>
            <a:ext cx="245520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End of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Rechteck 16"/>
          <p:cNvSpPr/>
          <p:nvPr/>
        </p:nvSpPr>
        <p:spPr>
          <a:xfrm>
            <a:off x="4354560" y="1782000"/>
            <a:ext cx="2447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frei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Rechteck 2"/>
          <p:cNvSpPr/>
          <p:nvPr/>
        </p:nvSpPr>
        <p:spPr>
          <a:xfrm>
            <a:off x="4354560" y="3799800"/>
            <a:ext cx="2447280" cy="286560"/>
          </a:xfrm>
          <a:prstGeom prst="rect">
            <a:avLst/>
          </a:prstGeom>
          <a:solidFill>
            <a:srgbClr val="B3B4FF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Header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Rechteck 17"/>
          <p:cNvSpPr/>
          <p:nvPr/>
        </p:nvSpPr>
        <p:spPr>
          <a:xfrm>
            <a:off x="4354560" y="4591800"/>
            <a:ext cx="2447280" cy="286560"/>
          </a:xfrm>
          <a:prstGeom prst="rect">
            <a:avLst/>
          </a:prstGeom>
          <a:solidFill>
            <a:srgbClr val="FFFFB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Header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Rechteck 22"/>
          <p:cNvSpPr/>
          <p:nvPr/>
        </p:nvSpPr>
        <p:spPr>
          <a:xfrm>
            <a:off x="4354560" y="4087080"/>
            <a:ext cx="2447280" cy="502560"/>
          </a:xfrm>
          <a:prstGeom prst="rect">
            <a:avLst/>
          </a:prstGeom>
          <a:solidFill>
            <a:srgbClr val="FFFFC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3" name="Gerade Verbindung mit Pfeil 23"/>
          <p:cNvCxnSpPr/>
          <p:nvPr/>
        </p:nvCxnSpPr>
        <p:spPr>
          <a:xfrm>
            <a:off x="6802200" y="4086720"/>
            <a:ext cx="1080360" cy="720"/>
          </a:xfrm>
          <a:prstGeom prst="straightConnector1">
            <a:avLst/>
          </a:prstGeom>
          <a:ln w="38100">
            <a:solidFill>
              <a:srgbClr val="0432FF"/>
            </a:solidFill>
            <a:round/>
            <a:headEnd len="med" type="arrow" w="med"/>
          </a:ln>
        </p:spPr>
      </p:cxnSp>
      <p:sp>
        <p:nvSpPr>
          <p:cNvPr id="1474" name="Rechteck 24"/>
          <p:cNvSpPr/>
          <p:nvPr/>
        </p:nvSpPr>
        <p:spPr>
          <a:xfrm>
            <a:off x="7034400" y="3717000"/>
            <a:ext cx="178344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Entry point of free list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5" name="Gerade Verbindung mit Pfeil 25"/>
          <p:cNvCxnSpPr/>
          <p:nvPr/>
        </p:nvCxnSpPr>
        <p:spPr>
          <a:xfrm>
            <a:off x="6802200" y="4590000"/>
            <a:ext cx="1080360" cy="720"/>
          </a:xfrm>
          <a:prstGeom prst="straightConnector1">
            <a:avLst/>
          </a:prstGeom>
          <a:ln w="25400">
            <a:solidFill>
              <a:srgbClr val="000000"/>
            </a:solidFill>
            <a:round/>
            <a:headEnd len="med" type="arrow" w="med"/>
          </a:ln>
        </p:spPr>
      </p:cxnSp>
      <p:sp>
        <p:nvSpPr>
          <p:cNvPr id="1476" name="Rechteck 27"/>
          <p:cNvSpPr/>
          <p:nvPr/>
        </p:nvSpPr>
        <p:spPr>
          <a:xfrm>
            <a:off x="7005240" y="4320360"/>
            <a:ext cx="162684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Pointer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</a:t>
            </a: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Returned by </a:t>
            </a: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JetBrains Mono"/>
              </a:rPr>
              <a:t>malloc</a:t>
            </a: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Rechteck 26"/>
          <p:cNvSpPr/>
          <p:nvPr/>
        </p:nvSpPr>
        <p:spPr>
          <a:xfrm>
            <a:off x="4354560" y="1493640"/>
            <a:ext cx="2447280" cy="658080"/>
          </a:xfrm>
          <a:prstGeom prst="rect">
            <a:avLst/>
          </a:prstGeom>
          <a:solidFill>
            <a:srgbClr val="D2D9FD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93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Free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Rechteck 28"/>
          <p:cNvSpPr/>
          <p:nvPr/>
        </p:nvSpPr>
        <p:spPr>
          <a:xfrm>
            <a:off x="4354560" y="2142360"/>
            <a:ext cx="2447280" cy="288360"/>
          </a:xfrm>
          <a:prstGeom prst="rect">
            <a:avLst/>
          </a:prstGeom>
          <a:solidFill>
            <a:srgbClr val="B3B4FF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Header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Rechteck 30"/>
          <p:cNvSpPr/>
          <p:nvPr/>
        </p:nvSpPr>
        <p:spPr>
          <a:xfrm>
            <a:off x="4354560" y="2790000"/>
            <a:ext cx="2447280" cy="288360"/>
          </a:xfrm>
          <a:prstGeom prst="rect">
            <a:avLst/>
          </a:prstGeom>
          <a:solidFill>
            <a:srgbClr val="FFFFB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Header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Rechteck 31"/>
          <p:cNvSpPr/>
          <p:nvPr/>
        </p:nvSpPr>
        <p:spPr>
          <a:xfrm>
            <a:off x="4354560" y="2431080"/>
            <a:ext cx="2447280" cy="358200"/>
          </a:xfrm>
          <a:prstGeom prst="rect">
            <a:avLst/>
          </a:prstGeom>
          <a:solidFill>
            <a:srgbClr val="FFFFC6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686160">
              <a:lnSpc>
                <a:spcPct val="93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1" name="Gerade Verbindung mit Pfeil 37"/>
          <p:cNvCxnSpPr/>
          <p:nvPr/>
        </p:nvCxnSpPr>
        <p:spPr>
          <a:xfrm>
            <a:off x="6802200" y="2790000"/>
            <a:ext cx="1080360" cy="720"/>
          </a:xfrm>
          <a:prstGeom prst="straightConnector1">
            <a:avLst/>
          </a:prstGeom>
          <a:ln w="25400">
            <a:solidFill>
              <a:srgbClr val="000000"/>
            </a:solidFill>
            <a:round/>
            <a:headEnd len="med" type="arrow" w="med"/>
          </a:ln>
        </p:spPr>
      </p:cxnSp>
      <p:sp>
        <p:nvSpPr>
          <p:cNvPr id="1482" name="Rechteck 38"/>
          <p:cNvSpPr/>
          <p:nvPr/>
        </p:nvSpPr>
        <p:spPr>
          <a:xfrm>
            <a:off x="7031160" y="2503080"/>
            <a:ext cx="162612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Pointer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(Returned by </a:t>
            </a: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JetBrains Mono"/>
              </a:rPr>
              <a:t>malloc</a:t>
            </a:r>
            <a:r>
              <a:rPr lang="is-I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3" name="Gerade Verbindung 6"/>
          <p:cNvCxnSpPr/>
          <p:nvPr/>
        </p:nvCxnSpPr>
        <p:spPr>
          <a:xfrm flipH="1">
            <a:off x="3994200" y="3942360"/>
            <a:ext cx="1008720" cy="720"/>
          </a:xfrm>
          <a:prstGeom prst="straightConnector1">
            <a:avLst/>
          </a:prstGeom>
          <a:ln w="38100">
            <a:solidFill>
              <a:srgbClr val="0432FF"/>
            </a:solidFill>
            <a:round/>
          </a:ln>
        </p:spPr>
      </p:cxnSp>
      <p:cxnSp>
        <p:nvCxnSpPr>
          <p:cNvPr id="1484" name="Gerade Verbindung 41"/>
          <p:cNvCxnSpPr/>
          <p:nvPr/>
        </p:nvCxnSpPr>
        <p:spPr>
          <a:xfrm flipV="1">
            <a:off x="3994200" y="2431080"/>
            <a:ext cx="720" cy="1512000"/>
          </a:xfrm>
          <a:prstGeom prst="straightConnector1">
            <a:avLst/>
          </a:prstGeom>
          <a:ln w="38100">
            <a:solidFill>
              <a:srgbClr val="0432FF"/>
            </a:solidFill>
            <a:round/>
          </a:ln>
        </p:spPr>
      </p:cxnSp>
      <p:cxnSp>
        <p:nvCxnSpPr>
          <p:cNvPr id="1485" name="Gerade Verbindung mit Pfeil 42"/>
          <p:cNvCxnSpPr/>
          <p:nvPr/>
        </p:nvCxnSpPr>
        <p:spPr>
          <a:xfrm flipH="1">
            <a:off x="3994200" y="2431080"/>
            <a:ext cx="353160" cy="720"/>
          </a:xfrm>
          <a:prstGeom prst="straightConnector1">
            <a:avLst/>
          </a:prstGeom>
          <a:ln w="38100">
            <a:solidFill>
              <a:srgbClr val="0432FF"/>
            </a:solidFill>
            <a:round/>
            <a:headEnd len="med" type="arrow" w="med"/>
          </a:ln>
        </p:spPr>
      </p:cxnSp>
      <p:sp>
        <p:nvSpPr>
          <p:cNvPr id="1486" name="Rechteck 12"/>
          <p:cNvSpPr/>
          <p:nvPr/>
        </p:nvSpPr>
        <p:spPr>
          <a:xfrm>
            <a:off x="2175120" y="4581360"/>
            <a:ext cx="158508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Beginning of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7" name="Gerade Verbindung mit Pfeil 11"/>
          <p:cNvCxnSpPr/>
          <p:nvPr/>
        </p:nvCxnSpPr>
        <p:spPr>
          <a:xfrm>
            <a:off x="3273480" y="4879080"/>
            <a:ext cx="1081800" cy="72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BFA2F1A-FB4F-42DE-9D2A-CE4083D9E93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Reintegration of freed memory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 chunk of memory is freed, check if other free chunks are immediately adjacent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If so, merge adjacent chunks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prevents fragmentation of the heap into many small chunks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1" name=""/>
          <p:cNvPicPr/>
          <p:nvPr/>
        </p:nvPicPr>
        <p:blipFill>
          <a:blip r:embed="rId1"/>
          <a:stretch/>
        </p:blipFill>
        <p:spPr>
          <a:xfrm>
            <a:off x="2424600" y="2431800"/>
            <a:ext cx="4055400" cy="224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1CA6091-C0C4-4B5B-9F18-932C160D8E1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Memory Management in Rust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Aufgabe: Speicherverwaltung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create the heap directly after the kernel code/data (see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JetBrains Mono"/>
              </a:rPr>
              <a:t>consts.rs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This is technically unsafe, as the physical memory at this location may be occupied by devices, the UEFI BIOS or bootloader data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→ A sophisticated allocator for physical memory is implemented in the second course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Our memory manager needs to implement the </a:t>
            </a:r>
            <a:r>
              <a:rPr lang="de-DE" sz="14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GlobalAlloc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trait: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fn </a:t>
            </a:r>
            <a:r>
              <a:rPr lang="en-US" sz="1200" b="0" i="1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alloc</a:t>
            </a:r>
            <a:r>
              <a:rPr lang="en-US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en-US" sz="12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layout: </a:t>
            </a:r>
            <a:r>
              <a:rPr lang="en-US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Layout</a:t>
            </a:r>
            <a:r>
              <a:rPr lang="en-US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-&gt; *</a:t>
            </a:r>
            <a:r>
              <a:rPr lang="en-US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u8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Times New Roman"/>
              </a:rPr>
              <a:t>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fn </a:t>
            </a:r>
            <a:r>
              <a:rPr lang="de-DE" sz="1200" b="0" i="1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dealloc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de-DE" sz="12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ptr: *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u8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layout: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Layout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More information is provided in the code; Philipp Oppermann has written a nice article around mememory management in Rust: </a:t>
            </a:r>
            <a:r>
              <a:rPr lang="de-DE" sz="1600" b="0" u="sng" strike="noStrike">
                <a:solidFill>
                  <a:srgbClr val="0432FF"/>
                </a:solidFill>
                <a:effectLst/>
                <a:uFillTx/>
                <a:latin typeface="Arial"/>
                <a:ea typeface="Times New Roman"/>
              </a:rPr>
              <a:t>https://os.phil-opp.com/heap-allocation/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8529C85-8ECE-44A5-970B-6660959AFCA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8080</TotalTime>
  <Application>LibreOffice/26.2.1.2$Linux_X86_64 LibreOffice_project/5937a82db3889b586a62e0a27a0d74b840403d7c</Application>
  <AppVersion>15.0000</AppVersion>
  <Words>804</Words>
  <Paragraphs>145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2026-03-18T10:55:43Z</dcterms:modified>
  <cp:revision>917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Custom</vt:lpwstr>
  </property>
  <property fmtid="{D5CDD505-2E9C-101B-9397-08002B2CF9AE}" pid="4" name="Slides">
    <vt:i4>13</vt:i4>
  </property>
</Properties>
</file>