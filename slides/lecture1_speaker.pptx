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0.xml" ContentType="application/vnd.openxmlformats-officedocument.presentationml.slideLayout+xml"/>
  <Override PartName="/ppt/media/image5.emf" ContentType="image/x-emf"/>
  <Override PartName="/ppt/media/image7.emf" ContentType="image/x-emf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move the slide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8F47FBF-17C6-4B33-8A27-5A4379AED96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040" cy="3083400"/>
          </a:xfrm>
          <a:prstGeom prst="rect">
            <a:avLst/>
          </a:prstGeom>
          <a:ln w="0">
            <a:noFill/>
          </a:ln>
        </p:spPr>
      </p:sp>
      <p:sp>
        <p:nvSpPr>
          <p:cNvPr id="1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5120" cy="3489480"/>
          </a:xfrm>
          <a:custGeom>
            <a:avLst/>
            <a:gdLst>
              <a:gd name="textAreaLeft" fmla="*/ 0 w 3165120"/>
              <a:gd name="textAreaRight" fmla="*/ 3168000 w 3165120"/>
              <a:gd name="textAreaTop" fmla="*/ 0 h 3489480"/>
              <a:gd name="textAreaBottom" fmla="*/ 3492360 h 348948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398120" cy="106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5320" cy="580680"/>
            <a:chOff x="522720" y="385200"/>
            <a:chExt cx="1525320" cy="58068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59120" cy="140400"/>
            </a:xfrm>
            <a:custGeom>
              <a:avLst/>
              <a:gdLst>
                <a:gd name="textAreaLeft" fmla="*/ 0 w 159120"/>
                <a:gd name="textAreaRight" fmla="*/ 162000 w 159120"/>
                <a:gd name="textAreaTop" fmla="*/ 0 h 140400"/>
                <a:gd name="textAreaBottom" fmla="*/ 143280 h 1404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560" tIns="45000" rIns="7956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1680" cy="39456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394560"/>
                <a:gd name="textAreaBottom" fmla="*/ 397440 h 3945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4520" cy="2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6720" cy="298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5120" cy="3489480"/>
          </a:xfrm>
          <a:custGeom>
            <a:avLst/>
            <a:gdLst>
              <a:gd name="textAreaLeft" fmla="*/ 0 w 3165120"/>
              <a:gd name="textAreaRight" fmla="*/ 3168000 w 3165120"/>
              <a:gd name="textAreaTop" fmla="*/ 0 h 3489480"/>
              <a:gd name="textAreaBottom" fmla="*/ 3492360 h 348948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4520" cy="2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9440"/>
            <a:ext cx="6396840" cy="53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5320" cy="580680"/>
            <a:chOff x="522720" y="385200"/>
            <a:chExt cx="1525320" cy="58068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59120" cy="140400"/>
            </a:xfrm>
            <a:custGeom>
              <a:avLst/>
              <a:gdLst>
                <a:gd name="textAreaLeft" fmla="*/ 0 w 159120"/>
                <a:gd name="textAreaRight" fmla="*/ 162000 w 159120"/>
                <a:gd name="textAreaTop" fmla="*/ 0 h 140400"/>
                <a:gd name="textAreaBottom" fmla="*/ 143280 h 1404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560" tIns="45000" rIns="7956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1680" cy="39456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394560"/>
                <a:gd name="textAreaBottom" fmla="*/ 397440 h 3945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4520" cy="2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6396840" cy="110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5320" cy="580680"/>
            <a:chOff x="522720" y="385200"/>
            <a:chExt cx="1525320" cy="58068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59120" cy="140400"/>
            </a:xfrm>
            <a:custGeom>
              <a:avLst/>
              <a:gdLst>
                <a:gd name="textAreaLeft" fmla="*/ 0 w 159120"/>
                <a:gd name="textAreaRight" fmla="*/ 162000 w 159120"/>
                <a:gd name="textAreaTop" fmla="*/ 0 h 140400"/>
                <a:gd name="textAreaBottom" fmla="*/ 143280 h 1404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560" tIns="45000" rIns="7956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1680" cy="39456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394560"/>
                <a:gd name="textAreaBottom" fmla="*/ 397440 h 3945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4520" cy="2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3800" cy="110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5320" cy="580680"/>
            <a:chOff x="522720" y="385200"/>
            <a:chExt cx="1525320" cy="58068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59120" cy="140400"/>
            </a:xfrm>
            <a:custGeom>
              <a:avLst/>
              <a:gdLst>
                <a:gd name="textAreaLeft" fmla="*/ 0 w 159120"/>
                <a:gd name="textAreaRight" fmla="*/ 162000 w 159120"/>
                <a:gd name="textAreaTop" fmla="*/ 0 h 140400"/>
                <a:gd name="textAreaBottom" fmla="*/ 143280 h 1404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560" tIns="45000" rIns="7956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1680" cy="39456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394560"/>
                <a:gd name="textAreaBottom" fmla="*/ 397440 h 3945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0080" cy="3823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4520" cy="2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7440" cy="118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5320" cy="580680"/>
            <a:chOff x="522720" y="385200"/>
            <a:chExt cx="1525320" cy="58068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59120" cy="140400"/>
            </a:xfrm>
            <a:custGeom>
              <a:avLst/>
              <a:gdLst>
                <a:gd name="textAreaLeft" fmla="*/ 0 w 159120"/>
                <a:gd name="textAreaRight" fmla="*/ 162000 w 159120"/>
                <a:gd name="textAreaTop" fmla="*/ 0 h 140400"/>
                <a:gd name="textAreaBottom" fmla="*/ 143280 h 1404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560" tIns="45000" rIns="7956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1680" cy="39456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394560"/>
                <a:gd name="textAreaBottom" fmla="*/ 397440 h 3945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5120" cy="3823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4520" cy="27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770800" cy="5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5320" cy="580680"/>
            <a:chOff x="522720" y="385200"/>
            <a:chExt cx="1525320" cy="58068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59120" cy="140400"/>
            </a:xfrm>
            <a:custGeom>
              <a:avLst/>
              <a:gdLst>
                <a:gd name="textAreaLeft" fmla="*/ 0 w 159120"/>
                <a:gd name="textAreaRight" fmla="*/ 162000 w 159120"/>
                <a:gd name="textAreaTop" fmla="*/ 0 h 140400"/>
                <a:gd name="textAreaBottom" fmla="*/ 143280 h 14040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560" tIns="45000" rIns="7956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1680" cy="39456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394560"/>
                <a:gd name="textAreaBottom" fmla="*/ 397440 h 39456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1680" cy="510840"/>
            </a:xfrm>
            <a:custGeom>
              <a:avLst/>
              <a:gdLst>
                <a:gd name="textAreaLeft" fmla="*/ 0 w 391680"/>
                <a:gd name="textAreaRight" fmla="*/ 394560 w 391680"/>
                <a:gd name="textAreaTop" fmla="*/ 0 h 510840"/>
                <a:gd name="textAreaBottom" fmla="*/ 513720 h 51084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0" y="1422360"/>
            <a:ext cx="6675480" cy="239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0120" cy="239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EE455FA-6F80-43DB-8586-F3A063BA577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8760" cy="163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8760" cy="163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38760" cy="163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0560" cy="163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307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10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11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312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313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8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9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2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323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5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6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327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9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2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333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6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7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D5F797D-9884-432C-8FEF-B093152A4D7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548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156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156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345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8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9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350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351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7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0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361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4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365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7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0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371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5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14543CC-A02A-4B2B-AC3D-28E9D91CEAC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112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382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85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6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387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388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7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398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0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402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4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7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408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2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8EFBF61-FA4E-4101-B940-F24723D67CA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418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1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22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423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424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0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3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434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6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7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438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0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3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444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5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6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8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F5225EC-F0E4-4275-902A-05AB23FEFE4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3920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012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156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156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457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60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61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462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463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9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2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473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5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6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477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9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2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483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7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8" name="Gruppieren 53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489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2" name="PlaceHolder 1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33A0D0B-2870-445C-94B2-3EE5B13D710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484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95" name="Gerader Verbinder 46"/>
          <p:cNvCxnSpPr/>
          <p:nvPr/>
        </p:nvCxnSpPr>
        <p:spPr>
          <a:xfrm>
            <a:off x="4625640" y="974520"/>
            <a:ext cx="273060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96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4280" cy="4912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4920" cy="34848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4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99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500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501" name="Freihandform: Form 68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2" name="Freihandform: Form 69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3" name="Freihandform: Form 70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71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Freihandform: Form 72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6" name="Freihandform: Form 73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7" name="Freihandform: Form 45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Freihandform: Form 4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Freihandform: Form 4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0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511" name="Freihandform: Form 66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67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3" name="Freihandform: Form 50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4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515" name="Freihandform: Form 6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Freihandform: Form 6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7" name="Freihandform: Form 52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Freihandform: Form 5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Freihandform: Form 5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0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521" name="Freihandform: Form 6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2" name="Freihandform: Form 6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ihandform: Form 6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Freihandform: Form 6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526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29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30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531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532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8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1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542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4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5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546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7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8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9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1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552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56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57" name="Gruppieren 54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558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1" name="PlaceHolder 1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E5D9938-316D-4675-96E6-38D0DD5E272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484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64" name="Gerader Verbinder 47"/>
          <p:cNvCxnSpPr/>
          <p:nvPr/>
        </p:nvCxnSpPr>
        <p:spPr>
          <a:xfrm>
            <a:off x="4625640" y="974520"/>
            <a:ext cx="273060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565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3200" cy="2428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3200" cy="24181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440" cy="34848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744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69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570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571" name="Freihandform: Form 69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Freihandform: Form 70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Freihandform: Form 71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ihandform: Form 72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Freihandform: Form 73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Freihandform: Form 74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7" name="Freihandform: Form 45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Freihandform: Form 46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Freihandform: Form 49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0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581" name="Freihandform: Form 67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Freihandform: Form 68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3" name="Freihandform: Form 51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4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585" name="Freihandform: Form 65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66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7" name="Freihandform: Form 53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Freihandform: Form 58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Freihandform: Form 59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0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591" name="Freihandform: Form 61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Freihandform: Form 62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Freihandform: Form 63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Freihandform: Form 64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596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99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00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601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602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8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1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612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4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5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616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8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1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622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5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6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07EAC56-BE8A-4072-9EBF-BC86FA359B7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176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176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3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634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37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38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639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640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6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9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650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2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3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654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5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6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9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660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1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2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4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2A8C03E-1ECE-40C4-B84A-E5EDFB0F408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297612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5"/>
          <p:cNvSpPr>
            <a:spLocks noGrp="1"/>
          </p:cNvSpPr>
          <p:nvPr>
            <p:ph type="body"/>
          </p:nvPr>
        </p:nvSpPr>
        <p:spPr>
          <a:xfrm>
            <a:off x="3032640" y="1422360"/>
            <a:ext cx="307620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6"/>
          <p:cNvSpPr>
            <a:spLocks noGrp="1"/>
          </p:cNvSpPr>
          <p:nvPr>
            <p:ph type="body"/>
          </p:nvPr>
        </p:nvSpPr>
        <p:spPr>
          <a:xfrm>
            <a:off x="6165000" y="1422360"/>
            <a:ext cx="297612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673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5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6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77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678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679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5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8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689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1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2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693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5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7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8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699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3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BB11CB6-7771-4FF9-8939-BCB3CC6E02E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708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11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12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713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714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8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9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0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3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724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6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7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728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734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7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38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FE389C4-6099-48C5-8AD3-7A5D5E81646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3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744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47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48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749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750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1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6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9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760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2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764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6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9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770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74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B53991B-7F28-4A6F-B525-CF706887DE2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820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0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781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84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85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786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787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8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6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797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9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0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801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3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6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807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11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4DBAC4E-F6D1-44AE-9A89-7CDD64012AA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098200" cy="33087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818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21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22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823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824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8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9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0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3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834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5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6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7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838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0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3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844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5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6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48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1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D6E11D6-809F-4776-A158-84E2AADD646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852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55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56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857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858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2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3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4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7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868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9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0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1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872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4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7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878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82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83" name="Gruppieren 49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884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6840" cy="91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88" name="Grafik 11"/>
          <p:cNvSpPr/>
          <p:nvPr/>
        </p:nvSpPr>
        <p:spPr>
          <a:xfrm>
            <a:off x="0" y="0"/>
            <a:ext cx="3729240" cy="4912200"/>
          </a:xfrm>
          <a:custGeom>
            <a:avLst/>
            <a:gdLst>
              <a:gd name="textAreaLeft" fmla="*/ 0 w 3729240"/>
              <a:gd name="textAreaRight" fmla="*/ 3732120 w 3729240"/>
              <a:gd name="textAreaTop" fmla="*/ 0 h 4912200"/>
              <a:gd name="textAreaBottom" fmla="*/ 4915080 h 491220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87DCE3F-FC7E-4499-B8CF-FF63DC4B5C7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91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892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893" name="Freihandform: Form 65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Freihandform: Form 66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" name="Freihandform: Form 67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Freihandform: Form 68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Freihandform: Form 69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ihandform: Form 70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9" name="Freihandform: Form 43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Freihandform: Form 44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Freihandform: Form 45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2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903" name="Freihandform: Form 63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64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5" name="Freihandform: Form 47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6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907" name="Freihandform: Form 61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62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9" name="Freihandform: Form 53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Freihandform: Form 54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Freihandform: Form 55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2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913" name="Freihandform: Form 57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Freihandform: Form 58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Freihandform: Form 59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60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918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9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0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21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22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923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924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0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3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934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6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7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938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0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3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944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48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49" name="Gruppieren 49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950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1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2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6840" cy="91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4F7E634-D8AC-4D6D-8FFB-CFA3D7F5870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56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957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958" name="Freihandform: Form 65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9" name="Freihandform: Form 66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0" name="Freihandform: Form 67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68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Freihandform: Form 69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70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4" name="Freihandform: Form 43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5" name="Freihandform: Form 44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Freihandform: Form 45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7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968" name="Freihandform: Form 63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Freihandform: Form 64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0" name="Freihandform: Form 47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1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972" name="Freihandform: Form 61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62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4" name="Freihandform: Form 53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5" name="Freihandform: Form 54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6" name="Freihandform: Form 55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7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978" name="Freihandform: Form 57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9" name="Freihandform: Form 58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0" name="Freihandform: Form 59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1" name="Freihandform: Form 60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983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4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5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6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7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988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989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0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1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5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8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999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0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1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003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5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8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009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0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13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2"/>
          <p:cNvSpPr>
            <a:spLocks noGrp="1"/>
          </p:cNvSpPr>
          <p:nvPr>
            <p:ph type="sldNum" idx="39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D615340-7A32-439A-BF47-722E2E8861A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ftr" idx="40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292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352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9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020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23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24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025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026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7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8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2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3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4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5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036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8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9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040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2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4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5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046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50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95BCE87-E7D2-46DC-8547-97049500CFB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8760" cy="34214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560" cy="34214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057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9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60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61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062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063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4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8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9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0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1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2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073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4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5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6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077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9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0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1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2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083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7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89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54D2E50-DD51-47A5-B383-F73B20B2F37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876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56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4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095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98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99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100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101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5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6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7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9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0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111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2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3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4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115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7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0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121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2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25" name="Freihandform: Form 44" hidden="1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26" name="Gruppieren 52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127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0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131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132" name="Freihandform: Form 35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36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37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38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Freihandform: Form 39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" name="Freihandform: Form 40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8" name="Freihandform: Form 17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Freihandform: Form 18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19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1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142" name="Freihandform: Form 33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Freihandform: Form 34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4" name="Freihandform: Form 21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5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146" name="Freihandform: Form 31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Freihandform: Form 32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8" name="Freihandform: Form 23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Freihandform: Form 24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Freihandform: Form 25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1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152" name="Freihandform: Form 27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28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29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30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6" name="Grafik 11"/>
          <p:cNvSpPr/>
          <p:nvPr/>
        </p:nvSpPr>
        <p:spPr>
          <a:xfrm>
            <a:off x="0" y="0"/>
            <a:ext cx="3729240" cy="4912200"/>
          </a:xfrm>
          <a:custGeom>
            <a:avLst/>
            <a:gdLst>
              <a:gd name="textAreaLeft" fmla="*/ 0 w 3729240"/>
              <a:gd name="textAreaRight" fmla="*/ 3732120 w 3729240"/>
              <a:gd name="textAreaTop" fmla="*/ 0 h 4912200"/>
              <a:gd name="textAreaBottom" fmla="*/ 4915080 h 491220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PlaceHolder 1"/>
          <p:cNvSpPr>
            <a:spLocks noGrp="1"/>
          </p:cNvSpPr>
          <p:nvPr>
            <p:ph type="ftr" idx="45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PlaceHolder 2"/>
          <p:cNvSpPr>
            <a:spLocks noGrp="1"/>
          </p:cNvSpPr>
          <p:nvPr>
            <p:ph type="sldNum" idx="46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2DCE0CE-176E-42C7-A7E4-DECAD9753C2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648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60" name="Gerader Verbinder 45"/>
          <p:cNvCxnSpPr/>
          <p:nvPr/>
        </p:nvCxnSpPr>
        <p:spPr>
          <a:xfrm>
            <a:off x="4464000" y="974520"/>
            <a:ext cx="289224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61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608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2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548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3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164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7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68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169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170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6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9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180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2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3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184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5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6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8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9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190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4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6" name="PlaceHolder 2"/>
          <p:cNvSpPr>
            <a:spLocks noGrp="1"/>
          </p:cNvSpPr>
          <p:nvPr>
            <p:ph type="ftr" idx="47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3"/>
          <p:cNvSpPr>
            <a:spLocks noGrp="1"/>
          </p:cNvSpPr>
          <p:nvPr>
            <p:ph type="sldNum" idx="48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87D23AC-B533-49D1-B0A9-5F20D3C227B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876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9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408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0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3984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01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3984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2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203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4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5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6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7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208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209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5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6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7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8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219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1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2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223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5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6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7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8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229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1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2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3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5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2E890D2-0F16-4DCD-8001-CDC6E289379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09748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9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240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3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4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245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246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2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4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5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256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7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8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9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260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1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2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4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5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266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9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0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2" name="PlaceHolder 2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BB1C054-0367-434C-B765-ACC5C10B5C6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3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804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0748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6160" cy="195120"/>
            <a:chOff x="-5040" y="4950720"/>
            <a:chExt cx="9146160" cy="19512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2040" cy="195120"/>
            </a:xfrm>
            <a:custGeom>
              <a:avLst/>
              <a:gdLst>
                <a:gd name="textAreaLeft" fmla="*/ 0 w 482040"/>
                <a:gd name="textAreaRight" fmla="*/ 484920 w 48204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18760" cy="195120"/>
            </a:xfrm>
            <a:custGeom>
              <a:avLst/>
              <a:gdLst>
                <a:gd name="textAreaLeft" fmla="*/ 0 w 8618760"/>
                <a:gd name="textAreaRight" fmla="*/ 8621640 w 8618760"/>
                <a:gd name="textAreaTop" fmla="*/ 0 h 195120"/>
                <a:gd name="textAreaBottom" fmla="*/ 198000 h 1951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67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4960" cy="28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7240" cy="618120"/>
            <a:chOff x="7741440" y="394200"/>
            <a:chExt cx="1047240" cy="61812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2000" cy="429480"/>
              <a:chOff x="7741440" y="394200"/>
              <a:chExt cx="882000" cy="42948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5320" cy="26568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265680"/>
                  <a:gd name="textAreaBottom" fmla="*/ 268560 h 26568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5320" cy="345600"/>
              </a:xfrm>
              <a:custGeom>
                <a:avLst/>
                <a:gdLst>
                  <a:gd name="textAreaLeft" fmla="*/ 0 w 265320"/>
                  <a:gd name="textAreaRight" fmla="*/ 268200 w 265320"/>
                  <a:gd name="textAreaTop" fmla="*/ 0 h 345600"/>
                  <a:gd name="textAreaBottom" fmla="*/ 348480 h 34560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6120" cy="6120"/>
              </a:xfrm>
              <a:custGeom>
                <a:avLst/>
                <a:gdLst>
                  <a:gd name="textAreaLeft" fmla="*/ 0 w 6120"/>
                  <a:gd name="textAreaRight" fmla="*/ 9000 w 6120"/>
                  <a:gd name="textAreaTop" fmla="*/ 0 h 6120"/>
                  <a:gd name="textAreaBottom" fmla="*/ 9000 h 61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2360" cy="38880"/>
              <a:chOff x="7872120" y="834120"/>
              <a:chExt cx="72360" cy="3888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2320" cy="38880"/>
              </a:xfrm>
              <a:custGeom>
                <a:avLst/>
                <a:gdLst>
                  <a:gd name="textAreaLeft" fmla="*/ 0 w 22320"/>
                  <a:gd name="textAreaRight" fmla="*/ 25200 w 2232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160" tIns="-3240" rIns="111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6320" cy="62640"/>
              <a:chOff x="7979760" y="812160"/>
              <a:chExt cx="76320" cy="6264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1680" cy="406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1440" rIns="158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1680" cy="604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60480"/>
                  <a:gd name="textAreaBottom" fmla="*/ 63360 h 6048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18360" rIns="1584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0680" cy="55080"/>
            </a:xfrm>
            <a:custGeom>
              <a:avLst/>
              <a:gdLst>
                <a:gd name="textAreaLeft" fmla="*/ 0 w 40680"/>
                <a:gd name="textAreaRight" fmla="*/ 43560 w 40680"/>
                <a:gd name="textAreaTop" fmla="*/ 0 h 55080"/>
                <a:gd name="textAreaBottom" fmla="*/ 57960 h 5508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3480" cy="40680"/>
            </a:xfrm>
            <a:custGeom>
              <a:avLst/>
              <a:gdLst>
                <a:gd name="textAreaLeft" fmla="*/ 0 w 33480"/>
                <a:gd name="textAreaRight" fmla="*/ 36360 w 33480"/>
                <a:gd name="textAreaTop" fmla="*/ 0 h 40680"/>
                <a:gd name="textAreaBottom" fmla="*/ 43560 h 4068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4320" cy="37080"/>
            </a:xfrm>
            <a:custGeom>
              <a:avLst/>
              <a:gdLst>
                <a:gd name="textAreaLeft" fmla="*/ 0 w 4320"/>
                <a:gd name="textAreaRight" fmla="*/ 7200 w 4320"/>
                <a:gd name="textAreaTop" fmla="*/ 0 h 37080"/>
                <a:gd name="textAreaBottom" fmla="*/ 39960 h 3708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" tIns="-5040" rIns="216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7240" cy="178200"/>
              <a:chOff x="7741440" y="834120"/>
              <a:chExt cx="1047240" cy="17820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1680" cy="38880"/>
              </a:xfrm>
              <a:custGeom>
                <a:avLst/>
                <a:gdLst>
                  <a:gd name="textAreaLeft" fmla="*/ 0 w 31680"/>
                  <a:gd name="textAreaRight" fmla="*/ 34560 w 31680"/>
                  <a:gd name="textAreaTop" fmla="*/ 0 h 38880"/>
                  <a:gd name="textAreaBottom" fmla="*/ 41760 h 3888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5840" tIns="-3240" rIns="158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6360 w 33480"/>
                  <a:gd name="textAreaTop" fmla="*/ 0 h 40680"/>
                  <a:gd name="textAreaBottom" fmla="*/ 43560 h 4068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1640" cy="60480"/>
              </a:xfrm>
              <a:custGeom>
                <a:avLst/>
                <a:gdLst>
                  <a:gd name="textAreaLeft" fmla="*/ 0 w 881640"/>
                  <a:gd name="textAreaRight" fmla="*/ 884520 w 881640"/>
                  <a:gd name="textAreaTop" fmla="*/ 0 h 60480"/>
                  <a:gd name="textAreaBottom" fmla="*/ 63360 h 604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1240" cy="96840"/>
              </a:xfrm>
              <a:custGeom>
                <a:avLst/>
                <a:gdLst>
                  <a:gd name="textAreaLeft" fmla="*/ 0 w 111240"/>
                  <a:gd name="textAreaRight" fmla="*/ 114120 w 111240"/>
                  <a:gd name="textAreaTop" fmla="*/ 0 h 96840"/>
                  <a:gd name="textAreaBottom" fmla="*/ 99720 h 968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4440" cy="291960"/>
          </a:xfrm>
          <a:custGeom>
            <a:avLst/>
            <a:gdLst>
              <a:gd name="textAreaLeft" fmla="*/ 0 w 334440"/>
              <a:gd name="textAreaRight" fmla="*/ 337320 w 334440"/>
              <a:gd name="textAreaTop" fmla="*/ 0 h 291960"/>
              <a:gd name="textAreaBottom" fmla="*/ 294840 h 29196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sldNum" idx="53"/>
          </p:nvPr>
        </p:nvSpPr>
        <p:spPr>
          <a:xfrm>
            <a:off x="35640" y="4975560"/>
            <a:ext cx="33444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DBAB035-57FB-45B3-A3BE-4C82F58BBD9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ftr" idx="54"/>
          </p:nvPr>
        </p:nvSpPr>
        <p:spPr>
          <a:xfrm>
            <a:off x="628560" y="4975560"/>
            <a:ext cx="7126920" cy="14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8040" cy="348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07480" cy="3489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20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msrc.microsoft.com/blog/2019/07/we-need-a-safer-systems-programming-language/" TargetMode="External"/><Relationship Id="rId2" Type="http://schemas.openxmlformats.org/officeDocument/2006/relationships/hyperlink" Target="https://msrc.microsoft.com/blog/2019/07/we-need-a-safer-systems-programming-language/" TargetMode="External"/><Relationship Id="rId3" Type="http://schemas.openxmlformats.org/officeDocument/2006/relationships/hyperlink" Target="https://www.heise.de/news/Rust-Code-im-Linux-Kernel-Merge-steht-laut-Linus-Torvalds-ab-Linux-5-20-bevor-7154453.html" TargetMode="External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/>
          </p:nvPr>
        </p:nvSpPr>
        <p:spPr>
          <a:xfrm>
            <a:off x="3600000" y="2268000"/>
            <a:ext cx="4947120" cy="106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OS Development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 Example - PC Speaker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8120" cy="601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br>
              <a:rPr sz="1600"/>
            </a:b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Generating Sounds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4" name="Inhaltsplatzhalter 7"/>
          <p:cNvSpPr/>
          <p:nvPr/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classic </a:t>
            </a:r>
            <a:r>
              <a:rPr lang="de-DE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PC Speaker</a:t>
            </a: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was driven by timer chip, which could generate pulses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Timer Chip = Programmable Interval Timer (PIT)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Nowadays integrated inside the motherboards chipset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older hardware, the motherboard’s firmware used the PC Speaker to generate Beep Codes in case of hardware failures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Nowadays, many motherboards posess a hexadecimal display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show error codes →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5" name="Picture 5"/>
          <p:cNvPicPr/>
          <p:nvPr/>
        </p:nvPicPr>
        <p:blipFill>
          <a:blip r:embed="rId1"/>
          <a:stretch/>
        </p:blipFill>
        <p:spPr>
          <a:xfrm>
            <a:off x="5576400" y="1980000"/>
            <a:ext cx="1261800" cy="62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6" name="Picture 7"/>
          <p:cNvPicPr/>
          <p:nvPr/>
        </p:nvPicPr>
        <p:blipFill>
          <a:blip r:embed="rId2"/>
          <a:stretch/>
        </p:blipFill>
        <p:spPr>
          <a:xfrm>
            <a:off x="2880720" y="3780000"/>
            <a:ext cx="897480" cy="62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26BB9D8A-DC68-4F97-A16C-A0E68A4D23E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Programmable Interval Timer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8" name="Inhaltsplatzhalter 7"/>
          <p:cNvSpPr/>
          <p:nvPr/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PIT runs at a frequency of 1.19318 MHz →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1.19318 MHz = 1/4 of 4.77 MHz = Frequency of the IBM PC 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 did the XT run at exactly 4,77 MHz?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4.77MHz = 1/3 of 14.31816 MHz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14,31816 MHz is the base frequency needed to operate NTSC television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 Quartz crystal for that frequency were cheap (mass production)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Every computer uses a quartz crystal to generate its base frequency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frequency is then adapted for different computer parts, using divisiors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Nowadays, the PIT can still be used to implement a monotonic increasing system time, or to distribite CPU time in preemptive multitasking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9" name="Picture 2"/>
          <p:cNvPicPr/>
          <p:nvPr/>
        </p:nvPicPr>
        <p:blipFill>
          <a:blip r:embed="rId1"/>
          <a:srcRect l="12322" t="10850" r="8054" b="17148"/>
          <a:stretch/>
        </p:blipFill>
        <p:spPr>
          <a:xfrm>
            <a:off x="7146360" y="1278720"/>
            <a:ext cx="1221120" cy="76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5C4DBEB7-71BE-4590-A6BF-3386B3FB871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PIT: Structure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1" name="Inhaltsplatzhalter 7"/>
          <p:cNvSpPr/>
          <p:nvPr/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Three counters/channels (16 bits each)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decremented with the falling edge of the base frequency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Usage: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Channel 0: Periodic interrupts → Signal OUT0 to IRQ controller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Channel 1: DRAM Refresh → Signal OUT1 to DMA controller (not relevant anymore)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Channel 2: Sound generation → OUT2 to PC Speaker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Programming is done via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IO-ports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(8 bits each)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2" name="Table 1"/>
          <p:cNvGraphicFramePr/>
          <p:nvPr/>
        </p:nvGraphicFramePr>
        <p:xfrm>
          <a:off x="1764360" y="3304440"/>
          <a:ext cx="5578200" cy="1526400"/>
        </p:xfrm>
        <a:graphic>
          <a:graphicData uri="http://schemas.openxmlformats.org/drawingml/2006/table">
            <a:tbl>
              <a:tblPr/>
              <a:tblGrid>
                <a:gridCol w="1076040"/>
                <a:gridCol w="2162160"/>
                <a:gridCol w="2340360"/>
              </a:tblGrid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Port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Register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Access mode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0x40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Channel 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read/write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0x41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Channel 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read/write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0x42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Channel 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read/write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0x43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Control register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only write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70F5BCD2-28E0-4366-89F5-F2CC98066E6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PIT: Control Register (Port 0x43)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4" name="Inhaltsplatzhalter 7"/>
          <p:cNvSpPr/>
          <p:nvPr/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Writing an 8-bit control word to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control register tells the PIT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next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Operating mode determines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the channel operates and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whether it triggers external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events using its OUT signal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5" name="Table 5"/>
          <p:cNvGraphicFramePr/>
          <p:nvPr/>
        </p:nvGraphicFramePr>
        <p:xfrm>
          <a:off x="3747600" y="1154160"/>
          <a:ext cx="5067720" cy="3666600"/>
        </p:xfrm>
        <a:graphic>
          <a:graphicData uri="http://schemas.openxmlformats.org/drawingml/2006/table">
            <a:tbl>
              <a:tblPr/>
              <a:tblGrid>
                <a:gridCol w="576000"/>
                <a:gridCol w="598680"/>
                <a:gridCol w="3893400"/>
              </a:tblGrid>
              <a:tr h="244440"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Bits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Wert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Bedeutung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rowSpan="5"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6-7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Channel Select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Channel 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Channel 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Channel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en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en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Invalid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rowSpan="5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4-5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Access Mode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Latch count value command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 counter byte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 counter byte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First low, then high coutner byte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1-3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Operating Mode (0-5)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4440">
                <a:tc rowSpan="3"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Counter format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Binary counter (16 bit)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BCD counter (four digits)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BD1BB100-390D-4BC3-82F7-84FD5DB9C47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PIT Mode 0: Interrupt On Terminal Count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7" name="Inhaltsplatzhalter 7"/>
          <p:cNvSpPr/>
          <p:nvPr/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Counter decrements every 838ns ( 1 s / 1193180 Hz = 838ns)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 counter reaches 0, the OUTx signal is set to 1, and an interrupt is triggered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 = Channel number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counter is not automatically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reloaded in mode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8" name="Bild 20"/>
          <p:cNvPicPr/>
          <p:nvPr/>
        </p:nvPicPr>
        <p:blipFill>
          <a:blip r:embed="rId1"/>
          <a:srcRect l="0" t="0" r="7407" b="0"/>
          <a:stretch/>
        </p:blipFill>
        <p:spPr>
          <a:xfrm>
            <a:off x="4151160" y="2089080"/>
            <a:ext cx="4667040" cy="276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9" name="Picture 4"/>
          <p:cNvPicPr/>
          <p:nvPr/>
        </p:nvPicPr>
        <p:blipFill>
          <a:blip r:embed="rId2"/>
          <a:srcRect l="0" t="0" r="0" b="14105"/>
          <a:stretch/>
        </p:blipFill>
        <p:spPr>
          <a:xfrm>
            <a:off x="1907640" y="2878560"/>
            <a:ext cx="1552320" cy="177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0" name="Picture 5"/>
          <p:cNvPicPr/>
          <p:nvPr/>
        </p:nvPicPr>
        <p:blipFill>
          <a:blip r:embed="rId3"/>
          <a:stretch/>
        </p:blipFill>
        <p:spPr>
          <a:xfrm rot="5400000">
            <a:off x="585720" y="3447000"/>
            <a:ext cx="1529640" cy="7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1" name=""/>
          <p:cNvSpPr/>
          <p:nvPr/>
        </p:nvSpPr>
        <p:spPr>
          <a:xfrm>
            <a:off x="4788000" y="2125080"/>
            <a:ext cx="89820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Control word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"/>
          <p:cNvSpPr/>
          <p:nvPr/>
        </p:nvSpPr>
        <p:spPr>
          <a:xfrm>
            <a:off x="4140000" y="2453040"/>
            <a:ext cx="71820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negated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23D9536D-73D9-431E-BCE6-1F64FEDBF54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PIT Mode 3: Square Wave Generator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4" name="Inhaltsplatzhalter 7"/>
          <p:cNvSpPr/>
          <p:nvPr/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Rectangular signal is generated using an internal Flip Flop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Time interval is doubled → To compensate, the counter is decremented 2x on each falling edge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Suitable for sound generation (but also system time or preemptive multitasking)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5" name="Picture 1"/>
          <p:cNvPicPr/>
          <p:nvPr/>
        </p:nvPicPr>
        <p:blipFill>
          <a:blip r:embed="rId1"/>
          <a:stretch/>
        </p:blipFill>
        <p:spPr>
          <a:xfrm>
            <a:off x="1979640" y="2179080"/>
            <a:ext cx="5419080" cy="276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6" name=""/>
          <p:cNvSpPr/>
          <p:nvPr/>
        </p:nvSpPr>
        <p:spPr>
          <a:xfrm>
            <a:off x="2628000" y="2232000"/>
            <a:ext cx="89820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Control word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"/>
          <p:cNvSpPr/>
          <p:nvPr/>
        </p:nvSpPr>
        <p:spPr>
          <a:xfrm>
            <a:off x="1980000" y="2489400"/>
            <a:ext cx="71820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negated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97E735C4-9964-4B5A-AAA6-1D57E17C76F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PC Speaker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9" name="Inhaltsplatzhalter 7"/>
          <p:cNvSpPr/>
          <p:nvPr/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Programmable via IO-Ports using assembly commands: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AutoNum type="arabicParenR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Channel 2 needs to be configured via the control register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Control word 0xB6 equals 1011 0110 in binary and means: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Channel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mode: First low counter byte,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then high counter byte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Operating mode 3 (square wave)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Binary counter mode (not BCD)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AutoNum type="arabicParenR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Write start value for counter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AutoNum type="arabicParenR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Turn on the PC speaker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via the Peripheral Port Interface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(PPI 8255, IO-Port 0x61)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0" name=""/>
          <p:cNvPicPr/>
          <p:nvPr/>
        </p:nvPicPr>
        <p:blipFill>
          <a:blip r:embed="rId1"/>
          <a:stretch/>
        </p:blipFill>
        <p:spPr>
          <a:xfrm>
            <a:off x="3988800" y="2196000"/>
            <a:ext cx="4972680" cy="257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A7D29BBE-484E-42A2-9F22-C2ABE30C257D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 code in Rust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2" name="TextBox 1"/>
          <p:cNvSpPr/>
          <p:nvPr/>
        </p:nvSpPr>
        <p:spPr>
          <a:xfrm>
            <a:off x="520560" y="1018440"/>
            <a:ext cx="8263440" cy="4056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6480"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const PORT_CTRL: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u16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 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0x43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const PORT_DATA0: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u16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0x40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const PORT_DATA2: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u16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0x42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const PORT_PPI: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u16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  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0x61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pub fn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play(frequency: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u32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) {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357D22"/>
                </a:solidFill>
                <a:effectLst/>
                <a:uFillTx/>
                <a:latin typeface="Consolas"/>
                <a:ea typeface="Times New Roman"/>
              </a:rPr>
              <a:t>// Tone frequency in Hz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const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base_freq  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1193180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;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1.19 MHz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let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counter       = base_freq / frequency;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let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status: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u8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unsafe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{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    cpu::outb(PORT_CTRL,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0xb6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);   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Configure channel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    cpu::outb(PORT_DATA2, (counter &amp; 255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) </a:t>
            </a: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as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u8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); 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Low byte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    cpu::outb(PORT_DATA2, (counter &gt;&gt;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8) </a:t>
            </a: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as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u8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); 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High byte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        // Turn on PC speaker via PPI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Times New Roman"/>
              </a:rPr>
              <a:t>        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status = cpu::inb(PORT_PPI);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Read PPI status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    cpu::outb(PORT_PPI, status | 3); 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Turn on PC speaker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}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}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122EF316-7323-462C-AEFB-683AC3DA0EA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38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Why Rust?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4" name="Inhaltsplatzhalter 7"/>
          <p:cNvSpPr/>
          <p:nvPr/>
        </p:nvSpPr>
        <p:spPr>
          <a:xfrm>
            <a:off x="521640" y="1206720"/>
            <a:ext cx="8093520" cy="37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Type safe modern und fast programming language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Offers compile time garbage collection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null pointers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„broken“ pointers (unless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unsafe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used)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by Microsoft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https://msrc.microsoft.com/blog/2019/07/why-rust-for-safe-systems-programming/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2"/>
              </a:rPr>
              <a:t>https://msrc.microsoft.com/blog/2019/07/we-need-a-safer-systems-programming-language/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Linux allows writing kernel modules in Rust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3"/>
              </a:rPr>
              <a:t>https://www.heise.de/news/Rust-Code-im-Linux-Kernel-Merge-steht-laut-Linus-Torvalds-ab-Linux-5-20-bevor-7154453.html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EABB1167-5562-4B5F-96EE-AABC859B9EA9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8799</TotalTime>
  <Application>LibreOffice/26.2.5.2$MacOSX_AARCH64 LibreOffice_project/cd7284b4cbbfeb507e630c1aac019f4157393acb</Application>
  <AppVersion>15.0000</AppVersion>
  <Words>1521</Words>
  <Paragraphs>361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cp:lastPrinted>2026-04-13T14:27:03Z</cp:lastPrinted>
  <dcterms:modified xsi:type="dcterms:W3CDTF">2026-08-11T10:43:57Z</dcterms:modified>
  <cp:revision>930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Custom</vt:lpwstr>
  </property>
  <property fmtid="{D5CDD505-2E9C-101B-9397-08002B2CF9AE}" pid="4" name="Slides">
    <vt:i4>29</vt:i4>
  </property>
</Properties>
</file>